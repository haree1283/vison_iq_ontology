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ehicles" ContentType="image/vehicles"/>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6f6b3d9-83a3-a889-0d6b-3133da8485ce}">
          <p14:sldIdLst>
            <p14:sldId id="256"/>
            <p14:sldId id="257"/>
            <p14:sldId id="258"/>
          </p14:sldIdLst>
        </p14:section>
        <p14:section name="The detection model" id="{82da72db-630f-5e9f-ced5-b03fefac6519}">
          <p14:sldIdLst>
            <p14:sldId id="259"/>
            <p14:sldId id="260"/>
            <p14:sldId id="261"/>
            <p14:sldId id="262"/>
            <p14:sldId id="263"/>
          </p14:sldIdLst>
        </p14:section>
        <p14:section name="The VisionIQ platform" id="{2677ada0-8ab6-7ee3-822a-2a20a0e0550b}">
          <p14:sldIdLst>
            <p14:sldId id="264"/>
            <p14:sldId id="265"/>
            <p14:sldId id="266"/>
            <p14:sldId id="267"/>
            <p14:sldId id="268"/>
          </p14:sldIdLst>
        </p14:section>
        <p14:section name="Results and next steps" id="{d3ee0971-ece2-4f09-96ef-fb7d4291eaa1}">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623"/>
                </a:solidFill>
                <a:latin typeface="+mn-lt"/>
              </a:defRPr>
            </a:pPr>
            <a:r>
              <a:rPr sz="1400" b="0" i="0" u="none" strike="noStrike">
                <a:solidFill>
                  <a:srgbClr val="0F1623"/>
                </a:solidFill>
                <a:latin typeface="+mn-lt"/>
              </a:rPr>
              <a:t>mAP50 per class, leak-free test set</a:t>
            </a:r>
          </a:p>
        </c:rich>
      </c:tx>
      <c:layout/>
      <c:overlay val="0"/>
    </c:title>
    <c:autoTitleDeleted val="0"/>
    <c:plotArea>
      <c:layout/>
      <c:barChart>
        <c:barDir val="bar"/>
        <c:grouping val="clustered"/>
        <c:varyColors val="0"/>
        <c:ser>
          <c:idx val="0"/>
          <c:order val="0"/>
          <c:tx>
            <c:strRef>
              <c:f>Sheet1!$B$1</c:f>
              <c:strCache>
                <c:ptCount val="1"/>
                <c:pt idx="0">
                  <c:v>mAP50 (leak-free test)</c:v>
                </c:pt>
              </c:strCache>
            </c:strRef>
          </c:tx>
          <c:spPr>
            <a:solidFill>
              <a:srgbClr val="2A78D6"/>
            </a:solidFill>
            <a:effectLst/>
          </c:spPr>
          <c:invertIfNegative val="0"/>
          <c:dLbls>
            <c:numFmt formatCode="0.00" sourceLinked="0"/>
            <c:txPr>
              <a:bodyPr/>
              <a:lstStyle/>
              <a:p>
                <a:pPr>
                  <a:defRPr b="0" i="0" strike="noStrike" sz="1100" u="none">
                    <a:solidFill>
                      <a:srgbClr val="0F1623"/>
                    </a:solidFill>
                    <a:latin typeface="+mn-lt"/>
                  </a:defRPr>
                </a:pPr>
              </a:p>
            </c:txPr>
            <c:showLegendKey val="0"/>
            <c:showVal val="1"/>
            <c:showCatName val="0"/>
            <c:showSerName val="0"/>
            <c:showPercent val="0"/>
            <c:showBubbleSize val="0"/>
            <c:showLeaderLines val="0"/>
          </c:dLbls>
          <c:cat>
            <c:multiLvlStrRef>
              <c:f>Sheet1!$A$2:$A$13</c:f>
              <c:multiLvlStrCache>
                <c:ptCount val="12"/>
                <c:lvl>
                  <c:pt idx="0">
                    <c:v>pothole</c:v>
                  </c:pt>
                  <c:pt idx="1">
                    <c:v>road_construction</c:v>
                  </c:pt>
                  <c:pt idx="2">
                    <c:v>bicycle</c:v>
                  </c:pt>
                  <c:pt idx="3">
                    <c:v>fire_accident</c:v>
                  </c:pt>
                  <c:pt idx="4">
                    <c:v>accident_scene</c:v>
                  </c:pt>
                  <c:pt idx="5">
                    <c:v>truck</c:v>
                  </c:pt>
                  <c:pt idx="6">
                    <c:v>person</c:v>
                  </c:pt>
                  <c:pt idx="7">
                    <c:v>bus</c:v>
                  </c:pt>
                  <c:pt idx="8">
                    <c:v>motorcycle</c:v>
                  </c:pt>
                  <c:pt idx="9">
                    <c:v>car</c:v>
                  </c:pt>
                  <c:pt idx="10">
                    <c:v>auto</c:v>
                  </c:pt>
                  <c:pt idx="11">
                    <c:v>license_plate</c:v>
                  </c:pt>
                </c:lvl>
              </c:multiLvlStrCache>
            </c:multiLvlStrRef>
          </c:cat>
          <c:val>
            <c:numRef>
              <c:f>Sheet1!$B$2:$B$13</c:f>
              <c:numCache>
                <c:formatCode>General</c:formatCode>
                <c:ptCount val="12"/>
                <c:pt idx="0">
                  <c:v>0.559</c:v>
                </c:pt>
                <c:pt idx="1">
                  <c:v>0.741</c:v>
                </c:pt>
                <c:pt idx="2">
                  <c:v>0.744</c:v>
                </c:pt>
                <c:pt idx="3">
                  <c:v>0.763</c:v>
                </c:pt>
                <c:pt idx="4">
                  <c:v>0.777</c:v>
                </c:pt>
                <c:pt idx="5">
                  <c:v>0.783</c:v>
                </c:pt>
                <c:pt idx="6">
                  <c:v>0.793</c:v>
                </c:pt>
                <c:pt idx="7">
                  <c:v>0.851</c:v>
                </c:pt>
                <c:pt idx="8">
                  <c:v>0.868</c:v>
                </c:pt>
                <c:pt idx="9">
                  <c:v>0.912</c:v>
                </c:pt>
                <c:pt idx="10">
                  <c:v>0.921</c:v>
                </c:pt>
                <c:pt idx="11">
                  <c:v>0.946</c:v>
                </c:pt>
              </c:numCache>
            </c:numRef>
          </c:val>
        </c:ser>
        <c:dLbls>
          <c:numFmt formatCode="0.00" sourceLinked="0"/>
          <c:txPr>
            <a:bodyPr/>
            <a:lstStyle/>
            <a:p>
              <a:pPr>
                <a:defRPr b="0" i="0" strike="noStrike" sz="1100" u="none">
                  <a:solidFill>
                    <a:srgbClr val="0F162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B42"/>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VisionIQ combines our NH5 Highway detection model with a web platform. Upload highway footage or use a live camera; the system detects and tracks every vehicle, reads Indian number plates, raises incident alerts, and links all results together. This review covers the model, the platform and what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goals: count and classify all traffic, read Indian plates, raise alerts for incidents and road hazards, and connect everything into reports and a knowledge graph. The system runs as a website, and the model is also converted for the Rubik Pi edge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input from an upload or live camera; YOLOv8n detection; ByteTrack tracking so each vehicle is counted once; plate reading with PaddleOCR, accepted only after five identical valid readings; rule-based alerts; and an Excel report per video that feeds the dashboard and the ontology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YOLOv8 detection model behind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small YOLOv8n model handles all 12 classes: six vehicle types, people, number plates, two road hazards, and two incident classes. It was trained for 100 epochs at 960 pixels on about 88 thousand training images from a 105 thousand image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mAP50 is 0.805 on the leak-free test set, which only contains images with no near-copy in training, so it is the honest number. The target was 0.75. Plates, autos, cars, motorcycles and buses are strongest; potholes are the weakest class at 0.56. The INT8 version for the edge board keeps the same 0.805 at only 3.7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with v5 and v6 on the same 14 test videos, v8 detects the most vehicles, reads as many correct plates as v6, is the first to detect fires, and has the most stable counts. On scenario tests it caught all crashes and fires without false alarms on normal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rules make the results reliable: tracking means each vehicle is counted once; alerts need about a second of steady detection; plates are never guessed; and a fire detection must actually contain flame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the VisionIQ website that runs the model and presents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is one application with seven tabs. It replaced an earlier version with fifteen sidebar entries, several of which showed demo data. Every tab now shows real detection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one filter row: time range and video. All numbers and charts follow it. A video processed twice is counted once everywhere, so the numbers on every page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follow a vehicle. The Vehicles tab tracks one plate across all videos. The Ontology turns every Excel report into a knowledge graph, so any vehicle, video, camera or alert can be traced back to the exact spreadsheet row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 video shows the annotated video, every tracked vehicle with its photo and plate, the alerts, and the Excel report. Processing runs at about 53 frames per second on the GPU. Uploading the exact same file again returns the earlier result rather than double 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highlights: a single server for the site, API and models; login protection on everything; automatic import of results; duplicate detection so a re-uploaded video is never counted twice; a consistent interface on every computer; and an edge-ready INT8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measured where plates are lost on four videos. Reading is not the problem: detected plates are read correctly, and loosening the acceptance rules only produced misreads. The real limit is that most vehicles never show a detectable plate in this footage. A test video with UK plates gives zero by design. The fix is better camera placement and more plate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limitations: potholes, road-construction false positives, plates from high cameras, smoke-only fires, and some early accident flags. The next steps focus on data: separate road-construction training, relabelling, and footage from the real NH5 cameras, then enabling the camera-specific rules and deploying on the edge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v8 model beats its accuracy target with 12 classes in a small network, the platform processes video at about 53 frames per second, and the results are available in one clear website with a dashboard and a knowledge graph.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F162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886200"/>
            <a:ext cx="5852160" cy="10058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rgbClr val="0F162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2103120"/>
            <a:ext cx="3657600" cy="548640"/>
          </a:xfrm>
          <a:prstGeom prst="rect">
            <a:avLst/>
          </a:prstGeom>
          <a:noFill/>
          <a:ln/>
        </p:spPr>
        <p:txBody>
          <a:bodyPr wrap="square" rtlCol="0"/>
          <a:lstStyle>
            <a:lvl1pPr algn="l" indent="0" marL="0">
              <a:buNone/>
              <a:defRPr lang="en-US" sz="1800" b="1" dirty="0">
                <a:solidFill>
                  <a:schemeClr val="accent1"/>
                </a:solidFill>
              </a:defRPr>
            </a:lvl1pPr>
          </a:lstStyle>
          <a:p>
            <a:pPr algn="l" indent="0" marL="0">
              <a:buNone/>
            </a:pPr>
            <a:endParaRPr lang="en-US" sz="1800" dirty="0"/>
          </a:p>
        </p:txBody>
      </p:sp>
      <p:sp>
        <p:nvSpPr>
          <p:cNvPr id="3" name="Text 0"/>
          <p:cNvSpPr/>
          <p:nvPr>
            <p:ph idx="101" type="title" hasCustomPrompt="1"/>
          </p:nvPr>
        </p:nvSpPr>
        <p:spPr>
          <a:xfrm>
            <a:off x="640080" y="2651760"/>
            <a:ext cx="1051560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6B7280"/>
                </a:solidFill>
              </a:rPr>
              <a:t>VisionIQ · NH5 Highway AI</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vehicles"/><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737360"/>
          </a:xfrm>
          <a:prstGeom prst="rect">
            <a:avLst/>
          </a:prstGeom>
          <a:noFill/>
          <a:ln/>
        </p:spPr>
        <p:txBody>
          <a:bodyPr wrap="square" lIns="0" tIns="0" rIns="0" bIns="0" rtlCol="0" anchor="b"/>
          <a:lstStyle/>
          <a:p>
            <a:pPr algn="l" indent="0" marL="0">
              <a:buNone/>
            </a:pPr>
            <a:r>
              <a:rPr lang="en-US" sz="4400" b="1" dirty="0">
                <a:solidFill>
                  <a:schemeClr val="bg1"/>
                </a:solidFill>
              </a:rPr>
              <a:t>VisionIQ · NH5 Highway AI</a:t>
            </a:r>
            <a:endParaRPr lang="en-US" sz="4400" dirty="0"/>
          </a:p>
        </p:txBody>
      </p:sp>
      <p:sp>
        <p:nvSpPr>
          <p:cNvPr id="3" name="Text 0"/>
          <p:cNvSpPr/>
          <p:nvPr>
            <p:ph idx="101" type="body" hasCustomPrompt="1"/>
          </p:nvPr>
        </p:nvSpPr>
        <p:spPr>
          <a:xfrm>
            <a:off x="640080" y="3886200"/>
            <a:ext cx="5852160" cy="1005840"/>
          </a:xfrm>
          <a:prstGeom prst="rect">
            <a:avLst/>
          </a:prstGeom>
          <a:noFill/>
          <a:ln/>
        </p:spPr>
        <p:txBody>
          <a:bodyPr wrap="square" lIns="0" tIns="0" rIns="0" bIns="0" rtlCol="0" anchor="t"/>
          <a:lstStyle/>
          <a:p>
            <a:pPr algn="l" indent="0" marL="0">
              <a:buNone/>
            </a:pPr>
            <a:r>
              <a:rPr lang="en-US" sz="1800" dirty="0">
                <a:solidFill>
                  <a:schemeClr val="bg2"/>
                </a:solidFill>
              </a:rPr>
              <a:t>Automatic traffic monitoring from highway video: vehicles, number plates and incidents in one web platform</a:t>
            </a:r>
            <a:endParaRPr lang="en-US" sz="1800" dirty="0"/>
          </a:p>
        </p:txBody>
      </p:sp>
      <p:sp>
        <p:nvSpPr>
          <p:cNvPr id="4" name="Text 2"/>
          <p:cNvSpPr txBox="1"/>
          <p:nvPr/>
        </p:nvSpPr>
        <p:spPr>
          <a:xfrm>
            <a:off x="640080" y="5852160"/>
            <a:ext cx="5486400" cy="365760"/>
          </a:xfrm>
          <a:prstGeom prst="rect">
            <a:avLst/>
          </a:prstGeom>
          <a:noFill/>
          <a:ln/>
        </p:spPr>
        <p:txBody>
          <a:bodyPr wrap="square" lIns="0" tIns="0" rIns="0" bIns="0" rtlCol="0" anchor="t"/>
          <a:lstStyle/>
          <a:p>
            <a:pPr indent="0" marL="0">
              <a:buNone/>
            </a:pPr>
            <a:r>
              <a:rPr lang="en-US" sz="1400" dirty="0">
                <a:solidFill>
                  <a:srgbClr val="C3CDDB"/>
                </a:solidFill>
              </a:rPr>
              <a:t>Project review · 5 October 2026</a:t>
            </a:r>
            <a:endParaRPr lang="en-US" sz="1400" dirty="0"/>
          </a:p>
        </p:txBody>
      </p:sp>
      <p:sp>
        <p:nvSpPr>
          <p:cNvPr id="5" name="frame backing"/>
          <p:cNvSpPr/>
          <p:nvPr/>
        </p:nvSpPr>
        <p:spPr>
          <a:xfrm>
            <a:off x="7086600" y="1417320"/>
            <a:ext cx="4553712" cy="2670048"/>
          </a:xfrm>
          <a:prstGeom prst="roundRect">
            <a:avLst>
              <a:gd name="adj" fmla="val 4110"/>
            </a:avLst>
          </a:prstGeom>
          <a:solidFill>
            <a:srgbClr val="1E2B42"/>
          </a:solidFill>
          <a:ln/>
          <a:effectLst>
            <a:outerShdw sx="100000" sy="100000" kx="0" ky="0" algn="bl" rotWithShape="0" blurRad="101600" dist="25400" dir="5400000">
              <a:srgbClr val="0F1623">
                <a:alpha val="18000"/>
              </a:srgbClr>
            </a:outerShdw>
          </a:effectLst>
        </p:spPr>
      </p:sp>
      <p:pic>
        <p:nvPicPr>
          <p:cNvPr id="6" name="annotated highway frame" descr="Annotated frame from a processed NH5 video">    </p:cNvPr>
          <p:cNvPicPr>
            <a:picLocks noChangeAspect="1"/>
          </p:cNvPicPr>
          <p:nvPr/>
        </p:nvPicPr>
        <p:blipFill>
          <a:blip r:embed="rId1"/>
          <a:stretch>
            <a:fillRect/>
          </a:stretch>
        </p:blipFill>
        <p:spPr>
          <a:xfrm>
            <a:off x="7114032" y="1444752"/>
            <a:ext cx="4498848" cy="2532888"/>
          </a:xfrm>
          <a:prstGeom prst="rect">
            <a:avLst/>
          </a:prstGeom>
        </p:spPr>
      </p:pic>
      <p:sp>
        <p:nvSpPr>
          <p:cNvPr id="7" name="Text 4"/>
          <p:cNvSpPr txBox="1"/>
          <p:nvPr/>
        </p:nvSpPr>
        <p:spPr>
          <a:xfrm>
            <a:off x="7114032" y="4206240"/>
            <a:ext cx="4498848" cy="457200"/>
          </a:xfrm>
          <a:prstGeom prst="rect">
            <a:avLst/>
          </a:prstGeom>
          <a:noFill/>
          <a:ln/>
        </p:spPr>
        <p:txBody>
          <a:bodyPr wrap="square" lIns="0" tIns="0" rIns="0" bIns="0" rtlCol="0" anchor="t"/>
          <a:lstStyle/>
          <a:p>
            <a:pPr indent="0" marL="0">
              <a:buNone/>
            </a:pPr>
            <a:r>
              <a:rPr lang="en-US" sz="1200" dirty="0">
                <a:solidFill>
                  <a:srgbClr val="C3CDDB"/>
                </a:solidFill>
              </a:rPr>
              <a:t>A processed frame: every road user is detected, classified and tracked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What the project set out to do</a:t>
            </a:r>
            <a:endParaRPr lang="en-US" sz="3200" dirty="0"/>
          </a:p>
        </p:txBody>
      </p:sp>
      <p:sp>
        <p:nvSpPr>
          <p:cNvPr id="3" name="goal 1"/>
          <p:cNvSpPr/>
          <p:nvPr/>
        </p:nvSpPr>
        <p:spPr>
          <a:xfrm>
            <a:off x="548640" y="1554480"/>
            <a:ext cx="2596896" cy="3200400"/>
          </a:xfrm>
          <a:prstGeom prst="roundRect">
            <a:avLst>
              <a:gd name="adj" fmla="val 4225"/>
            </a:avLst>
          </a:prstGeom>
          <a:solidFill>
            <a:srgbClr val="F3F5F8"/>
          </a:solidFill>
          <a:ln w="9525">
            <a:solidFill>
              <a:srgbClr val="E4E7EC"/>
            </a:solidFill>
            <a:prstDash val="solid"/>
          </a:ln>
        </p:spPr>
      </p:sp>
      <p:sp>
        <p:nvSpPr>
          <p:cNvPr id="4" name="LuCar circle"/>
          <p:cNvSpPr/>
          <p:nvPr/>
        </p:nvSpPr>
        <p:spPr>
          <a:xfrm>
            <a:off x="822960" y="1828800"/>
            <a:ext cx="640080" cy="640080"/>
          </a:xfrm>
          <a:prstGeom prst="ellipse">
            <a:avLst/>
          </a:prstGeom>
          <a:solidFill>
            <a:srgbClr val="F5A524"/>
          </a:solidFill>
          <a:ln/>
        </p:spPr>
      </p:sp>
      <p:pic>
        <p:nvPicPr>
          <p:cNvPr id="5" name="LuCar icon" descr="preencoded.png">    </p:cNvPr>
          <p:cNvPicPr>
            <a:picLocks noChangeAspect="1"/>
          </p:cNvPicPr>
          <p:nvPr/>
        </p:nvPicPr>
        <p:blipFill>
          <a:blip r:embed="rId1"/>
          <a:stretch>
            <a:fillRect/>
          </a:stretch>
        </p:blipFill>
        <p:spPr>
          <a:xfrm>
            <a:off x="963778" y="1969618"/>
            <a:ext cx="358445" cy="358445"/>
          </a:xfrm>
          <a:prstGeom prst="rect">
            <a:avLst/>
          </a:prstGeom>
        </p:spPr>
      </p:pic>
      <p:sp>
        <p:nvSpPr>
          <p:cNvPr id="6" name="Text 3"/>
          <p:cNvSpPr txBox="1"/>
          <p:nvPr/>
        </p:nvSpPr>
        <p:spPr>
          <a:xfrm>
            <a:off x="822960" y="2697480"/>
            <a:ext cx="2103120" cy="731520"/>
          </a:xfrm>
          <a:prstGeom prst="rect">
            <a:avLst/>
          </a:prstGeom>
          <a:noFill/>
          <a:ln/>
        </p:spPr>
        <p:txBody>
          <a:bodyPr wrap="square" lIns="0" tIns="0" rIns="0" bIns="0" rtlCol="0" anchor="t"/>
          <a:lstStyle/>
          <a:p>
            <a:pPr indent="0" marL="0">
              <a:buNone/>
            </a:pPr>
            <a:r>
              <a:rPr lang="en-US" sz="1800" b="1" dirty="0">
                <a:solidFill>
                  <a:schemeClr val="tx1"/>
                </a:solidFill>
              </a:rPr>
              <a:t>Count and classify traffic</a:t>
            </a:r>
            <a:endParaRPr lang="en-US" sz="1800" dirty="0"/>
          </a:p>
        </p:txBody>
      </p:sp>
      <p:sp>
        <p:nvSpPr>
          <p:cNvPr id="7" name="Text 4"/>
          <p:cNvSpPr txBox="1"/>
          <p:nvPr/>
        </p:nvSpPr>
        <p:spPr>
          <a:xfrm>
            <a:off x="822960" y="3474720"/>
            <a:ext cx="2103120" cy="1188720"/>
          </a:xfrm>
          <a:prstGeom prst="rect">
            <a:avLst/>
          </a:prstGeom>
          <a:noFill/>
          <a:ln/>
        </p:spPr>
        <p:txBody>
          <a:bodyPr wrap="square" lIns="0" tIns="0" rIns="0" bIns="0" rtlCol="0" anchor="t"/>
          <a:lstStyle/>
          <a:p>
            <a:pPr indent="0" marL="0">
              <a:buNone/>
            </a:pPr>
            <a:r>
              <a:rPr lang="en-US" sz="1400" dirty="0">
                <a:solidFill>
                  <a:schemeClr val="tx2"/>
                </a:solidFill>
              </a:rPr>
              <a:t>Cars, motorcycles, autos, buses, trucks, bicycles and pedestrians, each counted once.</a:t>
            </a:r>
            <a:endParaRPr lang="en-US" sz="1400" dirty="0"/>
          </a:p>
        </p:txBody>
      </p:sp>
      <p:sp>
        <p:nvSpPr>
          <p:cNvPr id="8" name="goal 2"/>
          <p:cNvSpPr/>
          <p:nvPr/>
        </p:nvSpPr>
        <p:spPr>
          <a:xfrm>
            <a:off x="3364992" y="1554480"/>
            <a:ext cx="2596896" cy="3200400"/>
          </a:xfrm>
          <a:prstGeom prst="roundRect">
            <a:avLst>
              <a:gd name="adj" fmla="val 4225"/>
            </a:avLst>
          </a:prstGeom>
          <a:solidFill>
            <a:srgbClr val="F3F5F8"/>
          </a:solidFill>
          <a:ln w="9525">
            <a:solidFill>
              <a:srgbClr val="E4E7EC"/>
            </a:solidFill>
            <a:prstDash val="solid"/>
          </a:ln>
        </p:spPr>
      </p:sp>
      <p:sp>
        <p:nvSpPr>
          <p:cNvPr id="9" name="LuIdCard circle"/>
          <p:cNvSpPr/>
          <p:nvPr/>
        </p:nvSpPr>
        <p:spPr>
          <a:xfrm>
            <a:off x="3639312" y="1828800"/>
            <a:ext cx="640080" cy="640080"/>
          </a:xfrm>
          <a:prstGeom prst="ellipse">
            <a:avLst/>
          </a:prstGeom>
          <a:solidFill>
            <a:srgbClr val="F5A524"/>
          </a:solidFill>
          <a:ln/>
        </p:spPr>
      </p:sp>
      <p:pic>
        <p:nvPicPr>
          <p:cNvPr id="10" name="LuIdCard icon" descr="preencoded.png">    </p:cNvPr>
          <p:cNvPicPr>
            <a:picLocks noChangeAspect="1"/>
          </p:cNvPicPr>
          <p:nvPr/>
        </p:nvPicPr>
        <p:blipFill>
          <a:blip r:embed="rId2"/>
          <a:stretch>
            <a:fillRect/>
          </a:stretch>
        </p:blipFill>
        <p:spPr>
          <a:xfrm>
            <a:off x="3780130" y="1969618"/>
            <a:ext cx="358445" cy="358445"/>
          </a:xfrm>
          <a:prstGeom prst="rect">
            <a:avLst/>
          </a:prstGeom>
        </p:spPr>
      </p:pic>
      <p:sp>
        <p:nvSpPr>
          <p:cNvPr id="11" name="Text 7"/>
          <p:cNvSpPr txBox="1"/>
          <p:nvPr/>
        </p:nvSpPr>
        <p:spPr>
          <a:xfrm>
            <a:off x="3639312" y="2697480"/>
            <a:ext cx="2103120" cy="731520"/>
          </a:xfrm>
          <a:prstGeom prst="rect">
            <a:avLst/>
          </a:prstGeom>
          <a:noFill/>
          <a:ln/>
        </p:spPr>
        <p:txBody>
          <a:bodyPr wrap="square" lIns="0" tIns="0" rIns="0" bIns="0" rtlCol="0" anchor="t"/>
          <a:lstStyle/>
          <a:p>
            <a:pPr indent="0" marL="0">
              <a:buNone/>
            </a:pPr>
            <a:r>
              <a:rPr lang="en-US" sz="1800" b="1" dirty="0">
                <a:solidFill>
                  <a:schemeClr val="tx1"/>
                </a:solidFill>
              </a:rPr>
              <a:t>Read Indian number plates</a:t>
            </a:r>
            <a:endParaRPr lang="en-US" sz="1800" dirty="0"/>
          </a:p>
        </p:txBody>
      </p:sp>
      <p:sp>
        <p:nvSpPr>
          <p:cNvPr id="12" name="Text 8"/>
          <p:cNvSpPr txBox="1"/>
          <p:nvPr/>
        </p:nvSpPr>
        <p:spPr>
          <a:xfrm>
            <a:off x="3639312" y="3474720"/>
            <a:ext cx="2103120" cy="1188720"/>
          </a:xfrm>
          <a:prstGeom prst="rect">
            <a:avLst/>
          </a:prstGeom>
          <a:noFill/>
          <a:ln/>
        </p:spPr>
        <p:txBody>
          <a:bodyPr wrap="square" lIns="0" tIns="0" rIns="0" bIns="0" rtlCol="0" anchor="t"/>
          <a:lstStyle/>
          <a:p>
            <a:pPr indent="0" marL="0">
              <a:buNone/>
            </a:pPr>
            <a:r>
              <a:rPr lang="en-US" sz="1400" dirty="0">
                <a:solidFill>
                  <a:schemeClr val="tx2"/>
                </a:solidFill>
              </a:rPr>
              <a:t>Plates are cleaned, read and accepted only in a valid Indian format.</a:t>
            </a:r>
            <a:endParaRPr lang="en-US" sz="1400" dirty="0"/>
          </a:p>
        </p:txBody>
      </p:sp>
      <p:sp>
        <p:nvSpPr>
          <p:cNvPr id="13" name="goal 3"/>
          <p:cNvSpPr/>
          <p:nvPr/>
        </p:nvSpPr>
        <p:spPr>
          <a:xfrm>
            <a:off x="6181344" y="1554480"/>
            <a:ext cx="2596896" cy="3200400"/>
          </a:xfrm>
          <a:prstGeom prst="roundRect">
            <a:avLst>
              <a:gd name="adj" fmla="val 4225"/>
            </a:avLst>
          </a:prstGeom>
          <a:solidFill>
            <a:srgbClr val="F3F5F8"/>
          </a:solidFill>
          <a:ln w="9525">
            <a:solidFill>
              <a:srgbClr val="E4E7EC"/>
            </a:solidFill>
            <a:prstDash val="solid"/>
          </a:ln>
        </p:spPr>
      </p:sp>
      <p:sp>
        <p:nvSpPr>
          <p:cNvPr id="14" name="LuTriangleAlert circle"/>
          <p:cNvSpPr/>
          <p:nvPr/>
        </p:nvSpPr>
        <p:spPr>
          <a:xfrm>
            <a:off x="6455664" y="1828800"/>
            <a:ext cx="640080" cy="640080"/>
          </a:xfrm>
          <a:prstGeom prst="ellipse">
            <a:avLst/>
          </a:prstGeom>
          <a:solidFill>
            <a:srgbClr val="F5A524"/>
          </a:solidFill>
          <a:ln/>
        </p:spPr>
      </p:sp>
      <p:pic>
        <p:nvPicPr>
          <p:cNvPr id="15" name="LuTriangleAlert icon" descr="preencoded.png">    </p:cNvPr>
          <p:cNvPicPr>
            <a:picLocks noChangeAspect="1"/>
          </p:cNvPicPr>
          <p:nvPr/>
        </p:nvPicPr>
        <p:blipFill>
          <a:blip r:embed="rId3"/>
          <a:stretch>
            <a:fillRect/>
          </a:stretch>
        </p:blipFill>
        <p:spPr>
          <a:xfrm>
            <a:off x="6596482" y="1969618"/>
            <a:ext cx="358445" cy="358445"/>
          </a:xfrm>
          <a:prstGeom prst="rect">
            <a:avLst/>
          </a:prstGeom>
        </p:spPr>
      </p:pic>
      <p:sp>
        <p:nvSpPr>
          <p:cNvPr id="16" name="Text 11"/>
          <p:cNvSpPr txBox="1"/>
          <p:nvPr/>
        </p:nvSpPr>
        <p:spPr>
          <a:xfrm>
            <a:off x="6455664" y="2697480"/>
            <a:ext cx="2103120" cy="731520"/>
          </a:xfrm>
          <a:prstGeom prst="rect">
            <a:avLst/>
          </a:prstGeom>
          <a:noFill/>
          <a:ln/>
        </p:spPr>
        <p:txBody>
          <a:bodyPr wrap="square" lIns="0" tIns="0" rIns="0" bIns="0" rtlCol="0" anchor="t"/>
          <a:lstStyle/>
          <a:p>
            <a:pPr indent="0" marL="0">
              <a:buNone/>
            </a:pPr>
            <a:r>
              <a:rPr lang="en-US" sz="1800" b="1" dirty="0">
                <a:solidFill>
                  <a:schemeClr val="tx1"/>
                </a:solidFill>
              </a:rPr>
              <a:t>Raise incident alerts</a:t>
            </a:r>
            <a:endParaRPr lang="en-US" sz="1800" dirty="0"/>
          </a:p>
        </p:txBody>
      </p:sp>
      <p:sp>
        <p:nvSpPr>
          <p:cNvPr id="17" name="Text 12"/>
          <p:cNvSpPr txBox="1"/>
          <p:nvPr/>
        </p:nvSpPr>
        <p:spPr>
          <a:xfrm>
            <a:off x="6455664" y="3474720"/>
            <a:ext cx="2103120" cy="1188720"/>
          </a:xfrm>
          <a:prstGeom prst="rect">
            <a:avLst/>
          </a:prstGeom>
          <a:noFill/>
          <a:ln/>
        </p:spPr>
        <p:txBody>
          <a:bodyPr wrap="square" lIns="0" tIns="0" rIns="0" bIns="0" rtlCol="0" anchor="t"/>
          <a:lstStyle/>
          <a:p>
            <a:pPr indent="0" marL="0">
              <a:buNone/>
            </a:pPr>
            <a:r>
              <a:rPr lang="en-US" sz="1400" dirty="0">
                <a:solidFill>
                  <a:schemeClr val="tx2"/>
                </a:solidFill>
              </a:rPr>
              <a:t>Accidents, vehicle fires, road work and potholes, with snapshots.</a:t>
            </a:r>
            <a:endParaRPr lang="en-US" sz="1400" dirty="0"/>
          </a:p>
        </p:txBody>
      </p:sp>
      <p:sp>
        <p:nvSpPr>
          <p:cNvPr id="18" name="goal 4"/>
          <p:cNvSpPr/>
          <p:nvPr/>
        </p:nvSpPr>
        <p:spPr>
          <a:xfrm>
            <a:off x="8997696" y="1554480"/>
            <a:ext cx="2596896" cy="3200400"/>
          </a:xfrm>
          <a:prstGeom prst="roundRect">
            <a:avLst>
              <a:gd name="adj" fmla="val 4225"/>
            </a:avLst>
          </a:prstGeom>
          <a:solidFill>
            <a:srgbClr val="F3F5F8"/>
          </a:solidFill>
          <a:ln w="9525">
            <a:solidFill>
              <a:srgbClr val="E4E7EC"/>
            </a:solidFill>
            <a:prstDash val="solid"/>
          </a:ln>
        </p:spPr>
      </p:sp>
      <p:sp>
        <p:nvSpPr>
          <p:cNvPr id="19" name="LuNetwork circle"/>
          <p:cNvSpPr/>
          <p:nvPr/>
        </p:nvSpPr>
        <p:spPr>
          <a:xfrm>
            <a:off x="9272016" y="1828800"/>
            <a:ext cx="640080" cy="640080"/>
          </a:xfrm>
          <a:prstGeom prst="ellipse">
            <a:avLst/>
          </a:prstGeom>
          <a:solidFill>
            <a:srgbClr val="F5A524"/>
          </a:solidFill>
          <a:ln/>
        </p:spPr>
      </p:sp>
      <p:pic>
        <p:nvPicPr>
          <p:cNvPr id="20" name="LuNetwork icon" descr="preencoded.png">    </p:cNvPr>
          <p:cNvPicPr>
            <a:picLocks noChangeAspect="1"/>
          </p:cNvPicPr>
          <p:nvPr/>
        </p:nvPicPr>
        <p:blipFill>
          <a:blip r:embed="rId4"/>
          <a:stretch>
            <a:fillRect/>
          </a:stretch>
        </p:blipFill>
        <p:spPr>
          <a:xfrm>
            <a:off x="9412834" y="1969618"/>
            <a:ext cx="358445" cy="358445"/>
          </a:xfrm>
          <a:prstGeom prst="rect">
            <a:avLst/>
          </a:prstGeom>
        </p:spPr>
      </p:pic>
      <p:sp>
        <p:nvSpPr>
          <p:cNvPr id="21" name="Text 15"/>
          <p:cNvSpPr txBox="1"/>
          <p:nvPr/>
        </p:nvSpPr>
        <p:spPr>
          <a:xfrm>
            <a:off x="9272016" y="2697480"/>
            <a:ext cx="2103120" cy="731520"/>
          </a:xfrm>
          <a:prstGeom prst="rect">
            <a:avLst/>
          </a:prstGeom>
          <a:noFill/>
          <a:ln/>
        </p:spPr>
        <p:txBody>
          <a:bodyPr wrap="square" lIns="0" tIns="0" rIns="0" bIns="0" rtlCol="0" anchor="t"/>
          <a:lstStyle/>
          <a:p>
            <a:pPr indent="0" marL="0">
              <a:buNone/>
            </a:pPr>
            <a:r>
              <a:rPr lang="en-US" sz="1800" b="1" dirty="0">
                <a:solidFill>
                  <a:schemeClr val="tx1"/>
                </a:solidFill>
              </a:rPr>
              <a:t>Connect the results</a:t>
            </a:r>
            <a:endParaRPr lang="en-US" sz="1800" dirty="0"/>
          </a:p>
        </p:txBody>
      </p:sp>
      <p:sp>
        <p:nvSpPr>
          <p:cNvPr id="22" name="Text 16"/>
          <p:cNvSpPr txBox="1"/>
          <p:nvPr/>
        </p:nvSpPr>
        <p:spPr>
          <a:xfrm>
            <a:off x="9272016" y="3474720"/>
            <a:ext cx="2103120" cy="1188720"/>
          </a:xfrm>
          <a:prstGeom prst="rect">
            <a:avLst/>
          </a:prstGeom>
          <a:noFill/>
          <a:ln/>
        </p:spPr>
        <p:txBody>
          <a:bodyPr wrap="square" lIns="0" tIns="0" rIns="0" bIns="0" rtlCol="0" anchor="t"/>
          <a:lstStyle/>
          <a:p>
            <a:pPr indent="0" marL="0">
              <a:buNone/>
            </a:pPr>
            <a:r>
              <a:rPr lang="en-US" sz="1400" dirty="0">
                <a:solidFill>
                  <a:schemeClr val="tx2"/>
                </a:solidFill>
              </a:rPr>
              <a:t>Every video gets an Excel report, linked into one knowledge graph.</a:t>
            </a:r>
            <a:endParaRPr lang="en-US" sz="1400" dirty="0"/>
          </a:p>
        </p:txBody>
      </p:sp>
      <p:sp>
        <p:nvSpPr>
          <p:cNvPr id="23" name="LuMonitor circle"/>
          <p:cNvSpPr/>
          <p:nvPr/>
        </p:nvSpPr>
        <p:spPr>
          <a:xfrm>
            <a:off x="548640" y="5257800"/>
            <a:ext cx="457200" cy="457200"/>
          </a:xfrm>
          <a:prstGeom prst="ellipse">
            <a:avLst/>
          </a:prstGeom>
          <a:solidFill>
            <a:srgbClr val="0F1623"/>
          </a:solidFill>
          <a:ln/>
        </p:spPr>
      </p:sp>
      <p:pic>
        <p:nvPicPr>
          <p:cNvPr id="24" name="LuMonitor icon" descr="preencoded.png">    </p:cNvPr>
          <p:cNvPicPr>
            <a:picLocks noChangeAspect="1"/>
          </p:cNvPicPr>
          <p:nvPr/>
        </p:nvPicPr>
        <p:blipFill>
          <a:blip r:embed="rId5"/>
          <a:stretch>
            <a:fillRect/>
          </a:stretch>
        </p:blipFill>
        <p:spPr>
          <a:xfrm>
            <a:off x="649224" y="5358384"/>
            <a:ext cx="256032" cy="256032"/>
          </a:xfrm>
          <a:prstGeom prst="rect">
            <a:avLst/>
          </a:prstGeom>
        </p:spPr>
      </p:pic>
      <p:sp>
        <p:nvSpPr>
          <p:cNvPr id="25" name="Text 18"/>
          <p:cNvSpPr txBox="1"/>
          <p:nvPr/>
        </p:nvSpPr>
        <p:spPr>
          <a:xfrm>
            <a:off x="1188720" y="5285232"/>
            <a:ext cx="10424160" cy="457200"/>
          </a:xfrm>
          <a:prstGeom prst="rect">
            <a:avLst/>
          </a:prstGeom>
          <a:noFill/>
          <a:ln/>
        </p:spPr>
        <p:txBody>
          <a:bodyPr wrap="square" lIns="0" tIns="0" rIns="0" bIns="0" rtlCol="0" anchor="ctr"/>
          <a:lstStyle/>
          <a:p>
            <a:pPr indent="0" marL="0">
              <a:buNone/>
            </a:pPr>
            <a:r>
              <a:rPr lang="en-US" sz="1500" b="1" dirty="0">
                <a:solidFill>
                  <a:schemeClr val="tx1"/>
                </a:solidFill>
              </a:rPr>
              <a:t>Two targets: </a:t>
            </a:r>
            <a:pPr indent="0" marL="0">
              <a:buNone/>
            </a:pPr>
            <a:r>
              <a:rPr lang="en-US" sz="1500" dirty="0">
                <a:solidFill>
                  <a:schemeClr val="tx1"/>
                </a:solidFill>
              </a:rPr>
              <a:t>the VisionIQ website for uploaded videos and a live camera, and the Rubik Pi edge board (compressed INT8 model).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From video to answers in six steps</a:t>
            </a:r>
            <a:endParaRPr lang="en-US" sz="3200" dirty="0"/>
          </a:p>
        </p:txBody>
      </p:sp>
      <p:sp>
        <p:nvSpPr>
          <p:cNvPr id="3" name="step 1"/>
          <p:cNvSpPr/>
          <p:nvPr/>
        </p:nvSpPr>
        <p:spPr>
          <a:xfrm>
            <a:off x="548640" y="1828800"/>
            <a:ext cx="1682496" cy="2926080"/>
          </a:xfrm>
          <a:prstGeom prst="roundRect">
            <a:avLst>
              <a:gd name="adj" fmla="val 6522"/>
            </a:avLst>
          </a:prstGeom>
          <a:solidFill>
            <a:srgbClr val="F3F5F8"/>
          </a:solidFill>
          <a:ln w="9525">
            <a:solidFill>
              <a:srgbClr val="E4E7EC"/>
            </a:solidFill>
            <a:prstDash val="solid"/>
          </a:ln>
        </p:spPr>
      </p:sp>
      <p:sp>
        <p:nvSpPr>
          <p:cNvPr id="4" name="LuVideo circle"/>
          <p:cNvSpPr/>
          <p:nvPr/>
        </p:nvSpPr>
        <p:spPr>
          <a:xfrm>
            <a:off x="1069848" y="2103120"/>
            <a:ext cx="640080" cy="640080"/>
          </a:xfrm>
          <a:prstGeom prst="ellipse">
            <a:avLst/>
          </a:prstGeom>
          <a:solidFill>
            <a:srgbClr val="F5A524"/>
          </a:solidFill>
          <a:ln/>
        </p:spPr>
      </p:sp>
      <p:pic>
        <p:nvPicPr>
          <p:cNvPr id="5" name="LuVideo icon" descr="preencoded.png">    </p:cNvPr>
          <p:cNvPicPr>
            <a:picLocks noChangeAspect="1"/>
          </p:cNvPicPr>
          <p:nvPr/>
        </p:nvPicPr>
        <p:blipFill>
          <a:blip r:embed="rId1"/>
          <a:stretch>
            <a:fillRect/>
          </a:stretch>
        </p:blipFill>
        <p:spPr>
          <a:xfrm>
            <a:off x="1210666" y="2243938"/>
            <a:ext cx="358445" cy="358445"/>
          </a:xfrm>
          <a:prstGeom prst="rect">
            <a:avLst/>
          </a:prstGeom>
        </p:spPr>
      </p:pic>
      <p:sp>
        <p:nvSpPr>
          <p:cNvPr id="6" name="Text 3"/>
          <p:cNvSpPr txBox="1"/>
          <p:nvPr/>
        </p:nvSpPr>
        <p:spPr>
          <a:xfrm>
            <a:off x="685800" y="2926080"/>
            <a:ext cx="1408176" cy="411480"/>
          </a:xfrm>
          <a:prstGeom prst="rect">
            <a:avLst/>
          </a:prstGeom>
          <a:noFill/>
          <a:ln/>
        </p:spPr>
        <p:txBody>
          <a:bodyPr wrap="square" lIns="0" tIns="0" rIns="0" bIns="0" rtlCol="0" anchor="t"/>
          <a:lstStyle/>
          <a:p>
            <a:pPr algn="ctr" indent="0" marL="0">
              <a:buNone/>
            </a:pPr>
            <a:r>
              <a:rPr lang="en-US" sz="1600" b="1" dirty="0">
                <a:solidFill>
                  <a:schemeClr val="tx1"/>
                </a:solidFill>
              </a:rPr>
              <a:t>1. Input</a:t>
            </a:r>
            <a:endParaRPr lang="en-US" sz="1600" dirty="0"/>
          </a:p>
        </p:txBody>
      </p:sp>
      <p:sp>
        <p:nvSpPr>
          <p:cNvPr id="7" name="Text 4"/>
          <p:cNvSpPr txBox="1"/>
          <p:nvPr/>
        </p:nvSpPr>
        <p:spPr>
          <a:xfrm>
            <a:off x="685800" y="3383280"/>
            <a:ext cx="1408176" cy="1188720"/>
          </a:xfrm>
          <a:prstGeom prst="rect">
            <a:avLst/>
          </a:prstGeom>
          <a:noFill/>
          <a:ln/>
        </p:spPr>
        <p:txBody>
          <a:bodyPr wrap="square" lIns="0" tIns="0" rIns="0" bIns="0" rtlCol="0" anchor="t"/>
          <a:lstStyle/>
          <a:p>
            <a:pPr algn="ctr" indent="0" marL="0">
              <a:buNone/>
            </a:pPr>
            <a:r>
              <a:rPr lang="en-US" sz="1300" dirty="0">
                <a:solidFill>
                  <a:schemeClr val="tx2"/>
                </a:solidFill>
              </a:rPr>
              <a:t>Uploaded video, photo or live camera</a:t>
            </a:r>
            <a:endParaRPr lang="en-US" sz="1300" dirty="0"/>
          </a:p>
        </p:txBody>
      </p:sp>
      <p:sp>
        <p:nvSpPr>
          <p:cNvPr id="8" name="arrow 1"/>
          <p:cNvSpPr/>
          <p:nvPr/>
        </p:nvSpPr>
        <p:spPr>
          <a:xfrm rot="5400000">
            <a:off x="2231136" y="3200400"/>
            <a:ext cx="219456" cy="146304"/>
          </a:xfrm>
          <a:prstGeom prst="triangle">
            <a:avLst/>
          </a:prstGeom>
          <a:solidFill>
            <a:srgbClr val="F5A524"/>
          </a:solidFill>
          <a:ln/>
        </p:spPr>
      </p:sp>
      <p:sp>
        <p:nvSpPr>
          <p:cNvPr id="9" name="step 2"/>
          <p:cNvSpPr/>
          <p:nvPr/>
        </p:nvSpPr>
        <p:spPr>
          <a:xfrm>
            <a:off x="2432304" y="1828800"/>
            <a:ext cx="1682496" cy="2926080"/>
          </a:xfrm>
          <a:prstGeom prst="roundRect">
            <a:avLst>
              <a:gd name="adj" fmla="val 6522"/>
            </a:avLst>
          </a:prstGeom>
          <a:solidFill>
            <a:srgbClr val="F3F5F8"/>
          </a:solidFill>
          <a:ln w="9525">
            <a:solidFill>
              <a:srgbClr val="E4E7EC"/>
            </a:solidFill>
            <a:prstDash val="solid"/>
          </a:ln>
        </p:spPr>
      </p:sp>
      <p:sp>
        <p:nvSpPr>
          <p:cNvPr id="10" name="LuScanSearch circle"/>
          <p:cNvSpPr/>
          <p:nvPr/>
        </p:nvSpPr>
        <p:spPr>
          <a:xfrm>
            <a:off x="2953512" y="2103120"/>
            <a:ext cx="640080" cy="640080"/>
          </a:xfrm>
          <a:prstGeom prst="ellipse">
            <a:avLst/>
          </a:prstGeom>
          <a:solidFill>
            <a:srgbClr val="F5A524"/>
          </a:solidFill>
          <a:ln/>
        </p:spPr>
      </p:sp>
      <p:pic>
        <p:nvPicPr>
          <p:cNvPr id="11" name="LuScanSearch icon" descr="preencoded.png">    </p:cNvPr>
          <p:cNvPicPr>
            <a:picLocks noChangeAspect="1"/>
          </p:cNvPicPr>
          <p:nvPr/>
        </p:nvPicPr>
        <p:blipFill>
          <a:blip r:embed="rId2"/>
          <a:stretch>
            <a:fillRect/>
          </a:stretch>
        </p:blipFill>
        <p:spPr>
          <a:xfrm>
            <a:off x="3094330" y="2243938"/>
            <a:ext cx="358445" cy="358445"/>
          </a:xfrm>
          <a:prstGeom prst="rect">
            <a:avLst/>
          </a:prstGeom>
        </p:spPr>
      </p:pic>
      <p:sp>
        <p:nvSpPr>
          <p:cNvPr id="12" name="Text 8"/>
          <p:cNvSpPr txBox="1"/>
          <p:nvPr/>
        </p:nvSpPr>
        <p:spPr>
          <a:xfrm>
            <a:off x="2569464" y="2926080"/>
            <a:ext cx="1408176" cy="411480"/>
          </a:xfrm>
          <a:prstGeom prst="rect">
            <a:avLst/>
          </a:prstGeom>
          <a:noFill/>
          <a:ln/>
        </p:spPr>
        <p:txBody>
          <a:bodyPr wrap="square" lIns="0" tIns="0" rIns="0" bIns="0" rtlCol="0" anchor="t"/>
          <a:lstStyle/>
          <a:p>
            <a:pPr algn="ctr" indent="0" marL="0">
              <a:buNone/>
            </a:pPr>
            <a:r>
              <a:rPr lang="en-US" sz="1600" b="1" dirty="0">
                <a:solidFill>
                  <a:schemeClr val="tx1"/>
                </a:solidFill>
              </a:rPr>
              <a:t>2. Detect</a:t>
            </a:r>
            <a:endParaRPr lang="en-US" sz="1600" dirty="0"/>
          </a:p>
        </p:txBody>
      </p:sp>
      <p:sp>
        <p:nvSpPr>
          <p:cNvPr id="13" name="Text 9"/>
          <p:cNvSpPr txBox="1"/>
          <p:nvPr/>
        </p:nvSpPr>
        <p:spPr>
          <a:xfrm>
            <a:off x="2569464" y="3383280"/>
            <a:ext cx="1408176" cy="1188720"/>
          </a:xfrm>
          <a:prstGeom prst="rect">
            <a:avLst/>
          </a:prstGeom>
          <a:noFill/>
          <a:ln/>
        </p:spPr>
        <p:txBody>
          <a:bodyPr wrap="square" lIns="0" tIns="0" rIns="0" bIns="0" rtlCol="0" anchor="t"/>
          <a:lstStyle/>
          <a:p>
            <a:pPr algn="ctr" indent="0" marL="0">
              <a:buNone/>
            </a:pPr>
            <a:r>
              <a:rPr lang="en-US" sz="1300" dirty="0">
                <a:solidFill>
                  <a:schemeClr val="tx2"/>
                </a:solidFill>
              </a:rPr>
              <a:t>YOLOv8n finds 12 classes in every frame</a:t>
            </a:r>
            <a:endParaRPr lang="en-US" sz="1300" dirty="0"/>
          </a:p>
        </p:txBody>
      </p:sp>
      <p:sp>
        <p:nvSpPr>
          <p:cNvPr id="14" name="arrow 2"/>
          <p:cNvSpPr/>
          <p:nvPr/>
        </p:nvSpPr>
        <p:spPr>
          <a:xfrm rot="5400000">
            <a:off x="4114800" y="3200400"/>
            <a:ext cx="219456" cy="146304"/>
          </a:xfrm>
          <a:prstGeom prst="triangle">
            <a:avLst/>
          </a:prstGeom>
          <a:solidFill>
            <a:srgbClr val="F5A524"/>
          </a:solidFill>
          <a:ln/>
        </p:spPr>
      </p:sp>
      <p:sp>
        <p:nvSpPr>
          <p:cNvPr id="15" name="step 3"/>
          <p:cNvSpPr/>
          <p:nvPr/>
        </p:nvSpPr>
        <p:spPr>
          <a:xfrm>
            <a:off x="4315968" y="1828800"/>
            <a:ext cx="1682496" cy="2926080"/>
          </a:xfrm>
          <a:prstGeom prst="roundRect">
            <a:avLst>
              <a:gd name="adj" fmla="val 6522"/>
            </a:avLst>
          </a:prstGeom>
          <a:solidFill>
            <a:srgbClr val="F3F5F8"/>
          </a:solidFill>
          <a:ln w="9525">
            <a:solidFill>
              <a:srgbClr val="E4E7EC"/>
            </a:solidFill>
            <a:prstDash val="solid"/>
          </a:ln>
        </p:spPr>
      </p:sp>
      <p:sp>
        <p:nvSpPr>
          <p:cNvPr id="16" name="LuRoute circle"/>
          <p:cNvSpPr/>
          <p:nvPr/>
        </p:nvSpPr>
        <p:spPr>
          <a:xfrm>
            <a:off x="4837176" y="2103120"/>
            <a:ext cx="640080" cy="640080"/>
          </a:xfrm>
          <a:prstGeom prst="ellipse">
            <a:avLst/>
          </a:prstGeom>
          <a:solidFill>
            <a:srgbClr val="F5A524"/>
          </a:solidFill>
          <a:ln/>
        </p:spPr>
      </p:sp>
      <p:pic>
        <p:nvPicPr>
          <p:cNvPr id="17" name="LuRoute icon" descr="preencoded.png">    </p:cNvPr>
          <p:cNvPicPr>
            <a:picLocks noChangeAspect="1"/>
          </p:cNvPicPr>
          <p:nvPr/>
        </p:nvPicPr>
        <p:blipFill>
          <a:blip r:embed="rId3"/>
          <a:stretch>
            <a:fillRect/>
          </a:stretch>
        </p:blipFill>
        <p:spPr>
          <a:xfrm>
            <a:off x="4977994" y="2243938"/>
            <a:ext cx="358445" cy="358445"/>
          </a:xfrm>
          <a:prstGeom prst="rect">
            <a:avLst/>
          </a:prstGeom>
        </p:spPr>
      </p:pic>
      <p:sp>
        <p:nvSpPr>
          <p:cNvPr id="18" name="Text 13"/>
          <p:cNvSpPr txBox="1"/>
          <p:nvPr/>
        </p:nvSpPr>
        <p:spPr>
          <a:xfrm>
            <a:off x="4453128" y="2926080"/>
            <a:ext cx="1408176" cy="411480"/>
          </a:xfrm>
          <a:prstGeom prst="rect">
            <a:avLst/>
          </a:prstGeom>
          <a:noFill/>
          <a:ln/>
        </p:spPr>
        <p:txBody>
          <a:bodyPr wrap="square" lIns="0" tIns="0" rIns="0" bIns="0" rtlCol="0" anchor="t"/>
          <a:lstStyle/>
          <a:p>
            <a:pPr algn="ctr" indent="0" marL="0">
              <a:buNone/>
            </a:pPr>
            <a:r>
              <a:rPr lang="en-US" sz="1600" b="1" dirty="0">
                <a:solidFill>
                  <a:schemeClr val="tx1"/>
                </a:solidFill>
              </a:rPr>
              <a:t>3. Track</a:t>
            </a:r>
            <a:endParaRPr lang="en-US" sz="1600" dirty="0"/>
          </a:p>
        </p:txBody>
      </p:sp>
      <p:sp>
        <p:nvSpPr>
          <p:cNvPr id="19" name="Text 14"/>
          <p:cNvSpPr txBox="1"/>
          <p:nvPr/>
        </p:nvSpPr>
        <p:spPr>
          <a:xfrm>
            <a:off x="4453128" y="3383280"/>
            <a:ext cx="1408176" cy="1188720"/>
          </a:xfrm>
          <a:prstGeom prst="rect">
            <a:avLst/>
          </a:prstGeom>
          <a:noFill/>
          <a:ln/>
        </p:spPr>
        <p:txBody>
          <a:bodyPr wrap="square" lIns="0" tIns="0" rIns="0" bIns="0" rtlCol="0" anchor="t"/>
          <a:lstStyle/>
          <a:p>
            <a:pPr algn="ctr" indent="0" marL="0">
              <a:buNone/>
            </a:pPr>
            <a:r>
              <a:rPr lang="en-US" sz="1300" dirty="0">
                <a:solidFill>
                  <a:schemeClr val="tx2"/>
                </a:solidFill>
              </a:rPr>
              <a:t>ByteTrack keeps one ID per object</a:t>
            </a:r>
            <a:endParaRPr lang="en-US" sz="1300" dirty="0"/>
          </a:p>
        </p:txBody>
      </p:sp>
      <p:sp>
        <p:nvSpPr>
          <p:cNvPr id="20" name="arrow 3"/>
          <p:cNvSpPr/>
          <p:nvPr/>
        </p:nvSpPr>
        <p:spPr>
          <a:xfrm rot="5400000">
            <a:off x="5998464" y="3200400"/>
            <a:ext cx="219456" cy="146304"/>
          </a:xfrm>
          <a:prstGeom prst="triangle">
            <a:avLst/>
          </a:prstGeom>
          <a:solidFill>
            <a:srgbClr val="F5A524"/>
          </a:solidFill>
          <a:ln/>
        </p:spPr>
      </p:sp>
      <p:sp>
        <p:nvSpPr>
          <p:cNvPr id="21" name="step 4"/>
          <p:cNvSpPr/>
          <p:nvPr/>
        </p:nvSpPr>
        <p:spPr>
          <a:xfrm>
            <a:off x="6199632" y="1828800"/>
            <a:ext cx="1682496" cy="2926080"/>
          </a:xfrm>
          <a:prstGeom prst="roundRect">
            <a:avLst>
              <a:gd name="adj" fmla="val 6522"/>
            </a:avLst>
          </a:prstGeom>
          <a:solidFill>
            <a:srgbClr val="F3F5F8"/>
          </a:solidFill>
          <a:ln w="9525">
            <a:solidFill>
              <a:srgbClr val="E4E7EC"/>
            </a:solidFill>
            <a:prstDash val="solid"/>
          </a:ln>
        </p:spPr>
      </p:sp>
      <p:sp>
        <p:nvSpPr>
          <p:cNvPr id="22" name="LuIdCard circle"/>
          <p:cNvSpPr/>
          <p:nvPr/>
        </p:nvSpPr>
        <p:spPr>
          <a:xfrm>
            <a:off x="6720840" y="2103120"/>
            <a:ext cx="640080" cy="640080"/>
          </a:xfrm>
          <a:prstGeom prst="ellipse">
            <a:avLst/>
          </a:prstGeom>
          <a:solidFill>
            <a:srgbClr val="F5A524"/>
          </a:solidFill>
          <a:ln/>
        </p:spPr>
      </p:sp>
      <p:pic>
        <p:nvPicPr>
          <p:cNvPr id="23" name="LuIdCard icon" descr="preencoded.png">    </p:cNvPr>
          <p:cNvPicPr>
            <a:picLocks noChangeAspect="1"/>
          </p:cNvPicPr>
          <p:nvPr/>
        </p:nvPicPr>
        <p:blipFill>
          <a:blip r:embed="rId4"/>
          <a:stretch>
            <a:fillRect/>
          </a:stretch>
        </p:blipFill>
        <p:spPr>
          <a:xfrm>
            <a:off x="6861658" y="2243938"/>
            <a:ext cx="358445" cy="358445"/>
          </a:xfrm>
          <a:prstGeom prst="rect">
            <a:avLst/>
          </a:prstGeom>
        </p:spPr>
      </p:pic>
      <p:sp>
        <p:nvSpPr>
          <p:cNvPr id="24" name="Text 18"/>
          <p:cNvSpPr txBox="1"/>
          <p:nvPr/>
        </p:nvSpPr>
        <p:spPr>
          <a:xfrm>
            <a:off x="6336792" y="2926080"/>
            <a:ext cx="1408176" cy="411480"/>
          </a:xfrm>
          <a:prstGeom prst="rect">
            <a:avLst/>
          </a:prstGeom>
          <a:noFill/>
          <a:ln/>
        </p:spPr>
        <p:txBody>
          <a:bodyPr wrap="square" lIns="0" tIns="0" rIns="0" bIns="0" rtlCol="0" anchor="t"/>
          <a:lstStyle/>
          <a:p>
            <a:pPr algn="ctr" indent="0" marL="0">
              <a:buNone/>
            </a:pPr>
            <a:r>
              <a:rPr lang="en-US" sz="1600" b="1" dirty="0">
                <a:solidFill>
                  <a:schemeClr val="tx1"/>
                </a:solidFill>
              </a:rPr>
              <a:t>4. Plates</a:t>
            </a:r>
            <a:endParaRPr lang="en-US" sz="1600" dirty="0"/>
          </a:p>
        </p:txBody>
      </p:sp>
      <p:sp>
        <p:nvSpPr>
          <p:cNvPr id="25" name="Text 19"/>
          <p:cNvSpPr txBox="1"/>
          <p:nvPr/>
        </p:nvSpPr>
        <p:spPr>
          <a:xfrm>
            <a:off x="6336792" y="3383280"/>
            <a:ext cx="1408176" cy="1188720"/>
          </a:xfrm>
          <a:prstGeom prst="rect">
            <a:avLst/>
          </a:prstGeom>
          <a:noFill/>
          <a:ln/>
        </p:spPr>
        <p:txBody>
          <a:bodyPr wrap="square" lIns="0" tIns="0" rIns="0" bIns="0" rtlCol="0" anchor="t"/>
          <a:lstStyle/>
          <a:p>
            <a:pPr algn="ctr" indent="0" marL="0">
              <a:buNone/>
            </a:pPr>
            <a:r>
              <a:rPr lang="en-US" sz="1300" dirty="0">
                <a:solidFill>
                  <a:schemeClr val="tx2"/>
                </a:solidFill>
              </a:rPr>
              <a:t>PaddleOCR, Indian format, 5 matching reads</a:t>
            </a:r>
            <a:endParaRPr lang="en-US" sz="1300" dirty="0"/>
          </a:p>
        </p:txBody>
      </p:sp>
      <p:sp>
        <p:nvSpPr>
          <p:cNvPr id="26" name="arrow 4"/>
          <p:cNvSpPr/>
          <p:nvPr/>
        </p:nvSpPr>
        <p:spPr>
          <a:xfrm rot="5400000">
            <a:off x="7882128" y="3200400"/>
            <a:ext cx="219456" cy="146304"/>
          </a:xfrm>
          <a:prstGeom prst="triangle">
            <a:avLst/>
          </a:prstGeom>
          <a:solidFill>
            <a:srgbClr val="F5A524"/>
          </a:solidFill>
          <a:ln/>
        </p:spPr>
      </p:sp>
      <p:sp>
        <p:nvSpPr>
          <p:cNvPr id="27" name="step 5"/>
          <p:cNvSpPr/>
          <p:nvPr/>
        </p:nvSpPr>
        <p:spPr>
          <a:xfrm>
            <a:off x="8083296" y="1828800"/>
            <a:ext cx="1682496" cy="2926080"/>
          </a:xfrm>
          <a:prstGeom prst="roundRect">
            <a:avLst>
              <a:gd name="adj" fmla="val 6522"/>
            </a:avLst>
          </a:prstGeom>
          <a:solidFill>
            <a:srgbClr val="F3F5F8"/>
          </a:solidFill>
          <a:ln w="9525">
            <a:solidFill>
              <a:srgbClr val="E4E7EC"/>
            </a:solidFill>
            <a:prstDash val="solid"/>
          </a:ln>
        </p:spPr>
      </p:sp>
      <p:sp>
        <p:nvSpPr>
          <p:cNvPr id="28" name="LuTriangleAlert circle"/>
          <p:cNvSpPr/>
          <p:nvPr/>
        </p:nvSpPr>
        <p:spPr>
          <a:xfrm>
            <a:off x="8604504" y="2103120"/>
            <a:ext cx="640080" cy="640080"/>
          </a:xfrm>
          <a:prstGeom prst="ellipse">
            <a:avLst/>
          </a:prstGeom>
          <a:solidFill>
            <a:srgbClr val="F5A524"/>
          </a:solidFill>
          <a:ln/>
        </p:spPr>
      </p:sp>
      <p:pic>
        <p:nvPicPr>
          <p:cNvPr id="29" name="LuTriangleAlert icon" descr="preencoded.png">    </p:cNvPr>
          <p:cNvPicPr>
            <a:picLocks noChangeAspect="1"/>
          </p:cNvPicPr>
          <p:nvPr/>
        </p:nvPicPr>
        <p:blipFill>
          <a:blip r:embed="rId5"/>
          <a:stretch>
            <a:fillRect/>
          </a:stretch>
        </p:blipFill>
        <p:spPr>
          <a:xfrm>
            <a:off x="8745322" y="2243938"/>
            <a:ext cx="358445" cy="358445"/>
          </a:xfrm>
          <a:prstGeom prst="rect">
            <a:avLst/>
          </a:prstGeom>
        </p:spPr>
      </p:pic>
      <p:sp>
        <p:nvSpPr>
          <p:cNvPr id="30" name="Text 23"/>
          <p:cNvSpPr txBox="1"/>
          <p:nvPr/>
        </p:nvSpPr>
        <p:spPr>
          <a:xfrm>
            <a:off x="8220456" y="2926080"/>
            <a:ext cx="1408176" cy="411480"/>
          </a:xfrm>
          <a:prstGeom prst="rect">
            <a:avLst/>
          </a:prstGeom>
          <a:noFill/>
          <a:ln/>
        </p:spPr>
        <p:txBody>
          <a:bodyPr wrap="square" lIns="0" tIns="0" rIns="0" bIns="0" rtlCol="0" anchor="t"/>
          <a:lstStyle/>
          <a:p>
            <a:pPr algn="ctr" indent="0" marL="0">
              <a:buNone/>
            </a:pPr>
            <a:r>
              <a:rPr lang="en-US" sz="1600" b="1" dirty="0">
                <a:solidFill>
                  <a:schemeClr val="tx1"/>
                </a:solidFill>
              </a:rPr>
              <a:t>5. Alert</a:t>
            </a:r>
            <a:endParaRPr lang="en-US" sz="1600" dirty="0"/>
          </a:p>
        </p:txBody>
      </p:sp>
      <p:sp>
        <p:nvSpPr>
          <p:cNvPr id="31" name="Text 24"/>
          <p:cNvSpPr txBox="1"/>
          <p:nvPr/>
        </p:nvSpPr>
        <p:spPr>
          <a:xfrm>
            <a:off x="8220456" y="3383280"/>
            <a:ext cx="1408176" cy="1188720"/>
          </a:xfrm>
          <a:prstGeom prst="rect">
            <a:avLst/>
          </a:prstGeom>
          <a:noFill/>
          <a:ln/>
        </p:spPr>
        <p:txBody>
          <a:bodyPr wrap="square" lIns="0" tIns="0" rIns="0" bIns="0" rtlCol="0" anchor="t"/>
          <a:lstStyle/>
          <a:p>
            <a:pPr algn="ctr" indent="0" marL="0">
              <a:buNone/>
            </a:pPr>
            <a:r>
              <a:rPr lang="en-US" sz="1300" dirty="0">
                <a:solidFill>
                  <a:schemeClr val="tx2"/>
                </a:solidFill>
              </a:rPr>
              <a:t>Event rules: accident, fire, road work</a:t>
            </a:r>
            <a:endParaRPr lang="en-US" sz="1300" dirty="0"/>
          </a:p>
        </p:txBody>
      </p:sp>
      <p:sp>
        <p:nvSpPr>
          <p:cNvPr id="32" name="arrow 5"/>
          <p:cNvSpPr/>
          <p:nvPr/>
        </p:nvSpPr>
        <p:spPr>
          <a:xfrm rot="5400000">
            <a:off x="9765792" y="3200400"/>
            <a:ext cx="219456" cy="146304"/>
          </a:xfrm>
          <a:prstGeom prst="triangle">
            <a:avLst/>
          </a:prstGeom>
          <a:solidFill>
            <a:srgbClr val="F5A524"/>
          </a:solidFill>
          <a:ln/>
        </p:spPr>
      </p:sp>
      <p:sp>
        <p:nvSpPr>
          <p:cNvPr id="33" name="step 6"/>
          <p:cNvSpPr/>
          <p:nvPr/>
        </p:nvSpPr>
        <p:spPr>
          <a:xfrm>
            <a:off x="9966960" y="1828800"/>
            <a:ext cx="1682496" cy="2926080"/>
          </a:xfrm>
          <a:prstGeom prst="roundRect">
            <a:avLst>
              <a:gd name="adj" fmla="val 6522"/>
            </a:avLst>
          </a:prstGeom>
          <a:solidFill>
            <a:srgbClr val="FDF3E1"/>
          </a:solidFill>
          <a:ln w="9525">
            <a:solidFill>
              <a:srgbClr val="E4E7EC"/>
            </a:solidFill>
            <a:prstDash val="solid"/>
          </a:ln>
        </p:spPr>
      </p:sp>
      <p:sp>
        <p:nvSpPr>
          <p:cNvPr id="34" name="LuFileSpreadsheet circle"/>
          <p:cNvSpPr/>
          <p:nvPr/>
        </p:nvSpPr>
        <p:spPr>
          <a:xfrm>
            <a:off x="10488168" y="2103120"/>
            <a:ext cx="640080" cy="640080"/>
          </a:xfrm>
          <a:prstGeom prst="ellipse">
            <a:avLst/>
          </a:prstGeom>
          <a:solidFill>
            <a:srgbClr val="F5A524"/>
          </a:solidFill>
          <a:ln/>
        </p:spPr>
      </p:sp>
      <p:pic>
        <p:nvPicPr>
          <p:cNvPr id="35" name="LuFileSpreadsheet icon" descr="preencoded.png">    </p:cNvPr>
          <p:cNvPicPr>
            <a:picLocks noChangeAspect="1"/>
          </p:cNvPicPr>
          <p:nvPr/>
        </p:nvPicPr>
        <p:blipFill>
          <a:blip r:embed="rId6"/>
          <a:stretch>
            <a:fillRect/>
          </a:stretch>
        </p:blipFill>
        <p:spPr>
          <a:xfrm>
            <a:off x="10628986" y="2243938"/>
            <a:ext cx="358445" cy="358445"/>
          </a:xfrm>
          <a:prstGeom prst="rect">
            <a:avLst/>
          </a:prstGeom>
        </p:spPr>
      </p:pic>
      <p:sp>
        <p:nvSpPr>
          <p:cNvPr id="36" name="Text 28"/>
          <p:cNvSpPr txBox="1"/>
          <p:nvPr/>
        </p:nvSpPr>
        <p:spPr>
          <a:xfrm>
            <a:off x="10104120" y="2926080"/>
            <a:ext cx="1408176" cy="411480"/>
          </a:xfrm>
          <a:prstGeom prst="rect">
            <a:avLst/>
          </a:prstGeom>
          <a:noFill/>
          <a:ln/>
        </p:spPr>
        <p:txBody>
          <a:bodyPr wrap="square" lIns="0" tIns="0" rIns="0" bIns="0" rtlCol="0" anchor="t"/>
          <a:lstStyle/>
          <a:p>
            <a:pPr algn="ctr" indent="0" marL="0">
              <a:buNone/>
            </a:pPr>
            <a:r>
              <a:rPr lang="en-US" sz="1600" b="1" dirty="0">
                <a:solidFill>
                  <a:schemeClr val="tx1"/>
                </a:solidFill>
              </a:rPr>
              <a:t>6. Report</a:t>
            </a:r>
            <a:endParaRPr lang="en-US" sz="1600" dirty="0"/>
          </a:p>
        </p:txBody>
      </p:sp>
      <p:sp>
        <p:nvSpPr>
          <p:cNvPr id="37" name="Text 29"/>
          <p:cNvSpPr txBox="1"/>
          <p:nvPr/>
        </p:nvSpPr>
        <p:spPr>
          <a:xfrm>
            <a:off x="10104120" y="3383280"/>
            <a:ext cx="1408176" cy="1188720"/>
          </a:xfrm>
          <a:prstGeom prst="rect">
            <a:avLst/>
          </a:prstGeom>
          <a:noFill/>
          <a:ln/>
        </p:spPr>
        <p:txBody>
          <a:bodyPr wrap="square" lIns="0" tIns="0" rIns="0" bIns="0" rtlCol="0" anchor="t"/>
          <a:lstStyle/>
          <a:p>
            <a:pPr algn="ctr" indent="0" marL="0">
              <a:buNone/>
            </a:pPr>
            <a:r>
              <a:rPr lang="en-US" sz="1300" dirty="0">
                <a:solidFill>
                  <a:schemeClr val="tx2"/>
                </a:solidFill>
              </a:rPr>
              <a:t>Excel report, dashboard and ontology</a:t>
            </a:r>
            <a:endParaRPr lang="en-US" sz="1300" dirty="0"/>
          </a:p>
        </p:txBody>
      </p:sp>
      <p:sp>
        <p:nvSpPr>
          <p:cNvPr id="38" name="Text 30"/>
          <p:cNvSpPr txBox="1"/>
          <p:nvPr/>
        </p:nvSpPr>
        <p:spPr>
          <a:xfrm>
            <a:off x="548640" y="5257800"/>
            <a:ext cx="11064240" cy="548640"/>
          </a:xfrm>
          <a:prstGeom prst="rect">
            <a:avLst/>
          </a:prstGeom>
          <a:noFill/>
          <a:ln/>
        </p:spPr>
        <p:txBody>
          <a:bodyPr wrap="square" lIns="0" tIns="0" rIns="0" bIns="0" rtlCol="0" anchor="t"/>
          <a:lstStyle/>
          <a:p>
            <a:pPr indent="0" marL="0">
              <a:buNone/>
            </a:pPr>
            <a:r>
              <a:rPr lang="en-US" sz="1500" dirty="0">
                <a:solidFill>
                  <a:schemeClr val="tx2"/>
                </a:solidFill>
              </a:rPr>
              <a:t>Every finished video lands in the library, the vehicle database, the dashboard and the ontology automatically, within about 10 seconds.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2103120"/>
            <a:ext cx="3657600" cy="548640"/>
          </a:xfrm>
          <a:prstGeom prst="rect">
            <a:avLst/>
          </a:prstGeom>
          <a:noFill/>
          <a:ln/>
        </p:spPr>
        <p:txBody>
          <a:bodyPr wrap="square" lIns="0" tIns="0" rIns="0" bIns="0" rtlCol="0"/>
          <a:lstStyle/>
          <a:p>
            <a:pPr algn="l" indent="0" marL="0">
              <a:buNone/>
            </a:pPr>
            <a:r>
              <a:rPr lang="en-US" sz="1800" b="1" dirty="0">
                <a:solidFill>
                  <a:schemeClr val="accent1"/>
                </a:solidFill>
              </a:rPr>
              <a:t>PART 1</a:t>
            </a:r>
            <a:endParaRPr lang="en-US" sz="1800" dirty="0"/>
          </a:p>
        </p:txBody>
      </p:sp>
      <p:sp>
        <p:nvSpPr>
          <p:cNvPr id="3" name="Text 0"/>
          <p:cNvSpPr/>
          <p:nvPr>
            <p:ph idx="101" type="title" hasCustomPrompt="1"/>
          </p:nvPr>
        </p:nvSpPr>
        <p:spPr>
          <a:xfrm>
            <a:off x="640080" y="2651760"/>
            <a:ext cx="10515600" cy="1097280"/>
          </a:xfrm>
          <a:prstGeom prst="rect">
            <a:avLst/>
          </a:prstGeom>
          <a:noFill/>
          <a:ln/>
        </p:spPr>
        <p:txBody>
          <a:bodyPr wrap="square" lIns="0" tIns="0" rIns="0" bIns="0" rtlCol="0" anchor="t"/>
          <a:lstStyle/>
          <a:p>
            <a:pPr algn="l" indent="0" marL="0">
              <a:buNone/>
            </a:pPr>
            <a:r>
              <a:rPr lang="en-US" sz="4000" b="1" dirty="0">
                <a:solidFill>
                  <a:schemeClr val="bg1"/>
                </a:solidFill>
              </a:rPr>
              <a:t>The detection model</a:t>
            </a:r>
            <a:endParaRPr 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One model detects 12 classes</a:t>
            </a:r>
            <a:endParaRPr lang="en-US" sz="3200" dirty="0"/>
          </a:p>
        </p:txBody>
      </p:sp>
      <p:sp>
        <p:nvSpPr>
          <p:cNvPr id="3" name="class group 1"/>
          <p:cNvSpPr/>
          <p:nvPr/>
        </p:nvSpPr>
        <p:spPr>
          <a:xfrm>
            <a:off x="548640" y="1417320"/>
            <a:ext cx="11064240" cy="768096"/>
          </a:xfrm>
          <a:prstGeom prst="roundRect">
            <a:avLst>
              <a:gd name="adj" fmla="val 14286"/>
            </a:avLst>
          </a:prstGeom>
          <a:solidFill>
            <a:srgbClr val="F3F5F8"/>
          </a:solidFill>
          <a:ln w="9525">
            <a:solidFill>
              <a:srgbClr val="E4E7EC"/>
            </a:solidFill>
            <a:prstDash val="solid"/>
          </a:ln>
        </p:spPr>
      </p:sp>
      <p:sp>
        <p:nvSpPr>
          <p:cNvPr id="4" name="LuCar circle"/>
          <p:cNvSpPr/>
          <p:nvPr/>
        </p:nvSpPr>
        <p:spPr>
          <a:xfrm>
            <a:off x="749808" y="1545336"/>
            <a:ext cx="512064" cy="512064"/>
          </a:xfrm>
          <a:prstGeom prst="ellipse">
            <a:avLst/>
          </a:prstGeom>
          <a:solidFill>
            <a:srgbClr val="F5A524"/>
          </a:solidFill>
          <a:ln/>
        </p:spPr>
      </p:sp>
      <p:pic>
        <p:nvPicPr>
          <p:cNvPr id="5" name="LuCar icon" descr="preencoded.png">    </p:cNvPr>
          <p:cNvPicPr>
            <a:picLocks noChangeAspect="1"/>
          </p:cNvPicPr>
          <p:nvPr/>
        </p:nvPicPr>
        <p:blipFill>
          <a:blip r:embed="rId1"/>
          <a:stretch>
            <a:fillRect/>
          </a:stretch>
        </p:blipFill>
        <p:spPr>
          <a:xfrm>
            <a:off x="862462" y="1657990"/>
            <a:ext cx="286756" cy="286756"/>
          </a:xfrm>
          <a:prstGeom prst="rect">
            <a:avLst/>
          </a:prstGeom>
        </p:spPr>
      </p:pic>
      <p:sp>
        <p:nvSpPr>
          <p:cNvPr id="6" name="Text 3"/>
          <p:cNvSpPr txBox="1"/>
          <p:nvPr/>
        </p:nvSpPr>
        <p:spPr>
          <a:xfrm>
            <a:off x="1481328" y="1527048"/>
            <a:ext cx="2194560" cy="548640"/>
          </a:xfrm>
          <a:prstGeom prst="rect">
            <a:avLst/>
          </a:prstGeom>
          <a:noFill/>
          <a:ln/>
        </p:spPr>
        <p:txBody>
          <a:bodyPr wrap="square" lIns="0" tIns="0" rIns="0" bIns="0" rtlCol="0" anchor="ctr"/>
          <a:lstStyle/>
          <a:p>
            <a:pPr indent="0" marL="0">
              <a:buNone/>
            </a:pPr>
            <a:r>
              <a:rPr lang="en-US" sz="1700" b="1" dirty="0">
                <a:solidFill>
                  <a:schemeClr val="tx1"/>
                </a:solidFill>
              </a:rPr>
              <a:t>Vehicles</a:t>
            </a:r>
            <a:endParaRPr lang="en-US" sz="1700" dirty="0"/>
          </a:p>
        </p:txBody>
      </p:sp>
      <p:sp>
        <p:nvSpPr>
          <p:cNvPr id="7" name="Text 4"/>
          <p:cNvSpPr txBox="1"/>
          <p:nvPr/>
        </p:nvSpPr>
        <p:spPr>
          <a:xfrm>
            <a:off x="3749040" y="1527048"/>
            <a:ext cx="4297680" cy="54864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car · motorcycle · auto · bus · truck · bicycle</a:t>
            </a:r>
            <a:endParaRPr lang="en-US" sz="1400" dirty="0"/>
          </a:p>
        </p:txBody>
      </p:sp>
      <p:sp>
        <p:nvSpPr>
          <p:cNvPr id="8" name="Text 5"/>
          <p:cNvSpPr txBox="1"/>
          <p:nvPr/>
        </p:nvSpPr>
        <p:spPr>
          <a:xfrm>
            <a:off x="8138160" y="1527048"/>
            <a:ext cx="3291840" cy="548640"/>
          </a:xfrm>
          <a:prstGeom prst="rect">
            <a:avLst/>
          </a:prstGeom>
          <a:noFill/>
          <a:ln/>
        </p:spPr>
        <p:txBody>
          <a:bodyPr wrap="square" lIns="0" tIns="0" rIns="0" bIns="0" rtlCol="0" anchor="ctr"/>
          <a:lstStyle/>
          <a:p>
            <a:pPr indent="0" marL="0">
              <a:buNone/>
            </a:pPr>
            <a:r>
              <a:rPr lang="en-US" sz="1400" dirty="0">
                <a:solidFill>
                  <a:schemeClr val="tx1"/>
                </a:solidFill>
              </a:rPr>
              <a:t>Traffic counts per type</a:t>
            </a:r>
            <a:endParaRPr lang="en-US" sz="1400" dirty="0"/>
          </a:p>
        </p:txBody>
      </p:sp>
      <p:sp>
        <p:nvSpPr>
          <p:cNvPr id="9" name="class group 2"/>
          <p:cNvSpPr/>
          <p:nvPr/>
        </p:nvSpPr>
        <p:spPr>
          <a:xfrm>
            <a:off x="548640" y="2331720"/>
            <a:ext cx="11064240" cy="768096"/>
          </a:xfrm>
          <a:prstGeom prst="roundRect">
            <a:avLst>
              <a:gd name="adj" fmla="val 14286"/>
            </a:avLst>
          </a:prstGeom>
          <a:solidFill>
            <a:srgbClr val="FFFFFF"/>
          </a:solidFill>
          <a:ln w="9525">
            <a:solidFill>
              <a:srgbClr val="E4E7EC"/>
            </a:solidFill>
            <a:prstDash val="solid"/>
          </a:ln>
        </p:spPr>
      </p:sp>
      <p:sp>
        <p:nvSpPr>
          <p:cNvPr id="10" name="LuUsers circle"/>
          <p:cNvSpPr/>
          <p:nvPr/>
        </p:nvSpPr>
        <p:spPr>
          <a:xfrm>
            <a:off x="749808" y="2459736"/>
            <a:ext cx="512064" cy="512064"/>
          </a:xfrm>
          <a:prstGeom prst="ellipse">
            <a:avLst/>
          </a:prstGeom>
          <a:solidFill>
            <a:srgbClr val="F5A524"/>
          </a:solidFill>
          <a:ln/>
        </p:spPr>
      </p:sp>
      <p:pic>
        <p:nvPicPr>
          <p:cNvPr id="11" name="LuUsers icon" descr="preencoded.png">    </p:cNvPr>
          <p:cNvPicPr>
            <a:picLocks noChangeAspect="1"/>
          </p:cNvPicPr>
          <p:nvPr/>
        </p:nvPicPr>
        <p:blipFill>
          <a:blip r:embed="rId2"/>
          <a:stretch>
            <a:fillRect/>
          </a:stretch>
        </p:blipFill>
        <p:spPr>
          <a:xfrm>
            <a:off x="862462" y="2572390"/>
            <a:ext cx="286756" cy="286756"/>
          </a:xfrm>
          <a:prstGeom prst="rect">
            <a:avLst/>
          </a:prstGeom>
        </p:spPr>
      </p:pic>
      <p:sp>
        <p:nvSpPr>
          <p:cNvPr id="12" name="Text 8"/>
          <p:cNvSpPr txBox="1"/>
          <p:nvPr/>
        </p:nvSpPr>
        <p:spPr>
          <a:xfrm>
            <a:off x="1481328" y="2441448"/>
            <a:ext cx="2194560" cy="548640"/>
          </a:xfrm>
          <a:prstGeom prst="rect">
            <a:avLst/>
          </a:prstGeom>
          <a:noFill/>
          <a:ln/>
        </p:spPr>
        <p:txBody>
          <a:bodyPr wrap="square" lIns="0" tIns="0" rIns="0" bIns="0" rtlCol="0" anchor="ctr"/>
          <a:lstStyle/>
          <a:p>
            <a:pPr indent="0" marL="0">
              <a:buNone/>
            </a:pPr>
            <a:r>
              <a:rPr lang="en-US" sz="1700" b="1" dirty="0">
                <a:solidFill>
                  <a:schemeClr val="tx1"/>
                </a:solidFill>
              </a:rPr>
              <a:t>People</a:t>
            </a:r>
            <a:endParaRPr lang="en-US" sz="1700" dirty="0"/>
          </a:p>
        </p:txBody>
      </p:sp>
      <p:sp>
        <p:nvSpPr>
          <p:cNvPr id="13" name="Text 9"/>
          <p:cNvSpPr txBox="1"/>
          <p:nvPr/>
        </p:nvSpPr>
        <p:spPr>
          <a:xfrm>
            <a:off x="3749040" y="2441448"/>
            <a:ext cx="4297680" cy="54864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person</a:t>
            </a:r>
            <a:endParaRPr lang="en-US" sz="1400" dirty="0"/>
          </a:p>
        </p:txBody>
      </p:sp>
      <p:sp>
        <p:nvSpPr>
          <p:cNvPr id="14" name="Text 10"/>
          <p:cNvSpPr txBox="1"/>
          <p:nvPr/>
        </p:nvSpPr>
        <p:spPr>
          <a:xfrm>
            <a:off x="8138160" y="2441448"/>
            <a:ext cx="3291840" cy="548640"/>
          </a:xfrm>
          <a:prstGeom prst="rect">
            <a:avLst/>
          </a:prstGeom>
          <a:noFill/>
          <a:ln/>
        </p:spPr>
        <p:txBody>
          <a:bodyPr wrap="square" lIns="0" tIns="0" rIns="0" bIns="0" rtlCol="0" anchor="ctr"/>
          <a:lstStyle/>
          <a:p>
            <a:pPr indent="0" marL="0">
              <a:buNone/>
            </a:pPr>
            <a:r>
              <a:rPr lang="en-US" sz="1400" dirty="0">
                <a:solidFill>
                  <a:schemeClr val="tx1"/>
                </a:solidFill>
              </a:rPr>
              <a:t>Pedestrian counts and roadside events</a:t>
            </a:r>
            <a:endParaRPr lang="en-US" sz="1400" dirty="0"/>
          </a:p>
        </p:txBody>
      </p:sp>
      <p:sp>
        <p:nvSpPr>
          <p:cNvPr id="15" name="class group 3"/>
          <p:cNvSpPr/>
          <p:nvPr/>
        </p:nvSpPr>
        <p:spPr>
          <a:xfrm>
            <a:off x="548640" y="3246120"/>
            <a:ext cx="11064240" cy="768096"/>
          </a:xfrm>
          <a:prstGeom prst="roundRect">
            <a:avLst>
              <a:gd name="adj" fmla="val 14286"/>
            </a:avLst>
          </a:prstGeom>
          <a:solidFill>
            <a:srgbClr val="F3F5F8"/>
          </a:solidFill>
          <a:ln w="9525">
            <a:solidFill>
              <a:srgbClr val="E4E7EC"/>
            </a:solidFill>
            <a:prstDash val="solid"/>
          </a:ln>
        </p:spPr>
      </p:sp>
      <p:sp>
        <p:nvSpPr>
          <p:cNvPr id="16" name="LuIdCard circle"/>
          <p:cNvSpPr/>
          <p:nvPr/>
        </p:nvSpPr>
        <p:spPr>
          <a:xfrm>
            <a:off x="749808" y="3374136"/>
            <a:ext cx="512064" cy="512064"/>
          </a:xfrm>
          <a:prstGeom prst="ellipse">
            <a:avLst/>
          </a:prstGeom>
          <a:solidFill>
            <a:srgbClr val="F5A524"/>
          </a:solidFill>
          <a:ln/>
        </p:spPr>
      </p:sp>
      <p:pic>
        <p:nvPicPr>
          <p:cNvPr id="17" name="LuIdCard icon" descr="preencoded.png">    </p:cNvPr>
          <p:cNvPicPr>
            <a:picLocks noChangeAspect="1"/>
          </p:cNvPicPr>
          <p:nvPr/>
        </p:nvPicPr>
        <p:blipFill>
          <a:blip r:embed="rId3"/>
          <a:stretch>
            <a:fillRect/>
          </a:stretch>
        </p:blipFill>
        <p:spPr>
          <a:xfrm>
            <a:off x="862462" y="3486790"/>
            <a:ext cx="286756" cy="286756"/>
          </a:xfrm>
          <a:prstGeom prst="rect">
            <a:avLst/>
          </a:prstGeom>
        </p:spPr>
      </p:pic>
      <p:sp>
        <p:nvSpPr>
          <p:cNvPr id="18" name="Text 13"/>
          <p:cNvSpPr txBox="1"/>
          <p:nvPr/>
        </p:nvSpPr>
        <p:spPr>
          <a:xfrm>
            <a:off x="1481328" y="3355848"/>
            <a:ext cx="2194560" cy="548640"/>
          </a:xfrm>
          <a:prstGeom prst="rect">
            <a:avLst/>
          </a:prstGeom>
          <a:noFill/>
          <a:ln/>
        </p:spPr>
        <p:txBody>
          <a:bodyPr wrap="square" lIns="0" tIns="0" rIns="0" bIns="0" rtlCol="0" anchor="ctr"/>
          <a:lstStyle/>
          <a:p>
            <a:pPr indent="0" marL="0">
              <a:buNone/>
            </a:pPr>
            <a:r>
              <a:rPr lang="en-US" sz="1700" b="1" dirty="0">
                <a:solidFill>
                  <a:schemeClr val="tx1"/>
                </a:solidFill>
              </a:rPr>
              <a:t>Number plates</a:t>
            </a:r>
            <a:endParaRPr lang="en-US" sz="1700" dirty="0"/>
          </a:p>
        </p:txBody>
      </p:sp>
      <p:sp>
        <p:nvSpPr>
          <p:cNvPr id="19" name="Text 14"/>
          <p:cNvSpPr txBox="1"/>
          <p:nvPr/>
        </p:nvSpPr>
        <p:spPr>
          <a:xfrm>
            <a:off x="3749040" y="3355848"/>
            <a:ext cx="4297680" cy="54864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license_plate</a:t>
            </a:r>
            <a:endParaRPr lang="en-US" sz="1400" dirty="0"/>
          </a:p>
        </p:txBody>
      </p:sp>
      <p:sp>
        <p:nvSpPr>
          <p:cNvPr id="20" name="Text 15"/>
          <p:cNvSpPr txBox="1"/>
          <p:nvPr/>
        </p:nvSpPr>
        <p:spPr>
          <a:xfrm>
            <a:off x="8138160" y="3355848"/>
            <a:ext cx="3291840" cy="548640"/>
          </a:xfrm>
          <a:prstGeom prst="rect">
            <a:avLst/>
          </a:prstGeom>
          <a:noFill/>
          <a:ln/>
        </p:spPr>
        <p:txBody>
          <a:bodyPr wrap="square" lIns="0" tIns="0" rIns="0" bIns="0" rtlCol="0" anchor="ctr"/>
          <a:lstStyle/>
          <a:p>
            <a:pPr indent="0" marL="0">
              <a:buNone/>
            </a:pPr>
            <a:r>
              <a:rPr lang="en-US" sz="1400" dirty="0">
                <a:solidFill>
                  <a:schemeClr val="tx1"/>
                </a:solidFill>
              </a:rPr>
              <a:t>Indian plate reading</a:t>
            </a:r>
            <a:endParaRPr lang="en-US" sz="1400" dirty="0"/>
          </a:p>
        </p:txBody>
      </p:sp>
      <p:sp>
        <p:nvSpPr>
          <p:cNvPr id="21" name="class group 4"/>
          <p:cNvSpPr/>
          <p:nvPr/>
        </p:nvSpPr>
        <p:spPr>
          <a:xfrm>
            <a:off x="548640" y="4160520"/>
            <a:ext cx="11064240" cy="768096"/>
          </a:xfrm>
          <a:prstGeom prst="roundRect">
            <a:avLst>
              <a:gd name="adj" fmla="val 14286"/>
            </a:avLst>
          </a:prstGeom>
          <a:solidFill>
            <a:srgbClr val="FFFFFF"/>
          </a:solidFill>
          <a:ln w="9525">
            <a:solidFill>
              <a:srgbClr val="E4E7EC"/>
            </a:solidFill>
            <a:prstDash val="solid"/>
          </a:ln>
        </p:spPr>
      </p:sp>
      <p:sp>
        <p:nvSpPr>
          <p:cNvPr id="22" name="LuConstruction circle"/>
          <p:cNvSpPr/>
          <p:nvPr/>
        </p:nvSpPr>
        <p:spPr>
          <a:xfrm>
            <a:off x="749808" y="4288536"/>
            <a:ext cx="512064" cy="512064"/>
          </a:xfrm>
          <a:prstGeom prst="ellipse">
            <a:avLst/>
          </a:prstGeom>
          <a:solidFill>
            <a:srgbClr val="F5A524"/>
          </a:solidFill>
          <a:ln/>
        </p:spPr>
      </p:sp>
      <p:pic>
        <p:nvPicPr>
          <p:cNvPr id="23" name="LuConstruction icon" descr="preencoded.png">    </p:cNvPr>
          <p:cNvPicPr>
            <a:picLocks noChangeAspect="1"/>
          </p:cNvPicPr>
          <p:nvPr/>
        </p:nvPicPr>
        <p:blipFill>
          <a:blip r:embed="rId4"/>
          <a:stretch>
            <a:fillRect/>
          </a:stretch>
        </p:blipFill>
        <p:spPr>
          <a:xfrm>
            <a:off x="862462" y="4401190"/>
            <a:ext cx="286756" cy="286756"/>
          </a:xfrm>
          <a:prstGeom prst="rect">
            <a:avLst/>
          </a:prstGeom>
        </p:spPr>
      </p:pic>
      <p:sp>
        <p:nvSpPr>
          <p:cNvPr id="24" name="Text 18"/>
          <p:cNvSpPr txBox="1"/>
          <p:nvPr/>
        </p:nvSpPr>
        <p:spPr>
          <a:xfrm>
            <a:off x="1481328" y="4270248"/>
            <a:ext cx="2194560" cy="548640"/>
          </a:xfrm>
          <a:prstGeom prst="rect">
            <a:avLst/>
          </a:prstGeom>
          <a:noFill/>
          <a:ln/>
        </p:spPr>
        <p:txBody>
          <a:bodyPr wrap="square" lIns="0" tIns="0" rIns="0" bIns="0" rtlCol="0" anchor="ctr"/>
          <a:lstStyle/>
          <a:p>
            <a:pPr indent="0" marL="0">
              <a:buNone/>
            </a:pPr>
            <a:r>
              <a:rPr lang="en-US" sz="1700" b="1" dirty="0">
                <a:solidFill>
                  <a:schemeClr val="tx1"/>
                </a:solidFill>
              </a:rPr>
              <a:t>Road hazards</a:t>
            </a:r>
            <a:endParaRPr lang="en-US" sz="1700" dirty="0"/>
          </a:p>
        </p:txBody>
      </p:sp>
      <p:sp>
        <p:nvSpPr>
          <p:cNvPr id="25" name="Text 19"/>
          <p:cNvSpPr txBox="1"/>
          <p:nvPr/>
        </p:nvSpPr>
        <p:spPr>
          <a:xfrm>
            <a:off x="3749040" y="4270248"/>
            <a:ext cx="4297680" cy="54864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pothole · road_construction</a:t>
            </a:r>
            <a:endParaRPr lang="en-US" sz="1400" dirty="0"/>
          </a:p>
        </p:txBody>
      </p:sp>
      <p:sp>
        <p:nvSpPr>
          <p:cNvPr id="26" name="Text 20"/>
          <p:cNvSpPr txBox="1"/>
          <p:nvPr/>
        </p:nvSpPr>
        <p:spPr>
          <a:xfrm>
            <a:off x="8138160" y="4270248"/>
            <a:ext cx="3291840" cy="548640"/>
          </a:xfrm>
          <a:prstGeom prst="rect">
            <a:avLst/>
          </a:prstGeom>
          <a:noFill/>
          <a:ln/>
        </p:spPr>
        <p:txBody>
          <a:bodyPr wrap="square" lIns="0" tIns="0" rIns="0" bIns="0" rtlCol="0" anchor="ctr"/>
          <a:lstStyle/>
          <a:p>
            <a:pPr indent="0" marL="0">
              <a:buNone/>
            </a:pPr>
            <a:r>
              <a:rPr lang="en-US" sz="1400" dirty="0">
                <a:solidFill>
                  <a:schemeClr val="tx1"/>
                </a:solidFill>
              </a:rPr>
              <a:t>Maintenance and work-zone alerts</a:t>
            </a:r>
            <a:endParaRPr lang="en-US" sz="1400" dirty="0"/>
          </a:p>
        </p:txBody>
      </p:sp>
      <p:sp>
        <p:nvSpPr>
          <p:cNvPr id="27" name="class group 5"/>
          <p:cNvSpPr/>
          <p:nvPr/>
        </p:nvSpPr>
        <p:spPr>
          <a:xfrm>
            <a:off x="548640" y="5074920"/>
            <a:ext cx="11064240" cy="768096"/>
          </a:xfrm>
          <a:prstGeom prst="roundRect">
            <a:avLst>
              <a:gd name="adj" fmla="val 14286"/>
            </a:avLst>
          </a:prstGeom>
          <a:solidFill>
            <a:srgbClr val="F3F5F8"/>
          </a:solidFill>
          <a:ln w="9525">
            <a:solidFill>
              <a:srgbClr val="E4E7EC"/>
            </a:solidFill>
            <a:prstDash val="solid"/>
          </a:ln>
        </p:spPr>
      </p:sp>
      <p:sp>
        <p:nvSpPr>
          <p:cNvPr id="28" name="LuFlame circle"/>
          <p:cNvSpPr/>
          <p:nvPr/>
        </p:nvSpPr>
        <p:spPr>
          <a:xfrm>
            <a:off x="749808" y="5202936"/>
            <a:ext cx="512064" cy="512064"/>
          </a:xfrm>
          <a:prstGeom prst="ellipse">
            <a:avLst/>
          </a:prstGeom>
          <a:solidFill>
            <a:srgbClr val="F5A524"/>
          </a:solidFill>
          <a:ln/>
        </p:spPr>
      </p:sp>
      <p:pic>
        <p:nvPicPr>
          <p:cNvPr id="29" name="LuFlame icon" descr="preencoded.png">    </p:cNvPr>
          <p:cNvPicPr>
            <a:picLocks noChangeAspect="1"/>
          </p:cNvPicPr>
          <p:nvPr/>
        </p:nvPicPr>
        <p:blipFill>
          <a:blip r:embed="rId5"/>
          <a:stretch>
            <a:fillRect/>
          </a:stretch>
        </p:blipFill>
        <p:spPr>
          <a:xfrm>
            <a:off x="862462" y="5315590"/>
            <a:ext cx="286756" cy="286756"/>
          </a:xfrm>
          <a:prstGeom prst="rect">
            <a:avLst/>
          </a:prstGeom>
        </p:spPr>
      </p:pic>
      <p:sp>
        <p:nvSpPr>
          <p:cNvPr id="30" name="Text 23"/>
          <p:cNvSpPr txBox="1"/>
          <p:nvPr/>
        </p:nvSpPr>
        <p:spPr>
          <a:xfrm>
            <a:off x="1481328" y="5184648"/>
            <a:ext cx="2194560" cy="548640"/>
          </a:xfrm>
          <a:prstGeom prst="rect">
            <a:avLst/>
          </a:prstGeom>
          <a:noFill/>
          <a:ln/>
        </p:spPr>
        <p:txBody>
          <a:bodyPr wrap="square" lIns="0" tIns="0" rIns="0" bIns="0" rtlCol="0" anchor="ctr"/>
          <a:lstStyle/>
          <a:p>
            <a:pPr indent="0" marL="0">
              <a:buNone/>
            </a:pPr>
            <a:r>
              <a:rPr lang="en-US" sz="1700" b="1" dirty="0">
                <a:solidFill>
                  <a:schemeClr val="tx1"/>
                </a:solidFill>
              </a:rPr>
              <a:t>Incidents</a:t>
            </a:r>
            <a:endParaRPr lang="en-US" sz="1700" dirty="0"/>
          </a:p>
        </p:txBody>
      </p:sp>
      <p:sp>
        <p:nvSpPr>
          <p:cNvPr id="31" name="Text 24"/>
          <p:cNvSpPr txBox="1"/>
          <p:nvPr/>
        </p:nvSpPr>
        <p:spPr>
          <a:xfrm>
            <a:off x="3749040" y="5184648"/>
            <a:ext cx="4297680" cy="54864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accident_scene · fire_accident</a:t>
            </a:r>
            <a:endParaRPr lang="en-US" sz="1400" dirty="0"/>
          </a:p>
        </p:txBody>
      </p:sp>
      <p:sp>
        <p:nvSpPr>
          <p:cNvPr id="32" name="Text 25"/>
          <p:cNvSpPr txBox="1"/>
          <p:nvPr/>
        </p:nvSpPr>
        <p:spPr>
          <a:xfrm>
            <a:off x="8138160" y="5184648"/>
            <a:ext cx="3291840" cy="548640"/>
          </a:xfrm>
          <a:prstGeom prst="rect">
            <a:avLst/>
          </a:prstGeom>
          <a:noFill/>
          <a:ln/>
        </p:spPr>
        <p:txBody>
          <a:bodyPr wrap="square" lIns="0" tIns="0" rIns="0" bIns="0" rtlCol="0" anchor="ctr"/>
          <a:lstStyle/>
          <a:p>
            <a:pPr indent="0" marL="0">
              <a:buNone/>
            </a:pPr>
            <a:r>
              <a:rPr lang="en-US" sz="1400" dirty="0">
                <a:solidFill>
                  <a:schemeClr val="tx1"/>
                </a:solidFill>
              </a:rPr>
              <a:t>Accident and fire alerts</a:t>
            </a:r>
            <a:endParaRPr lang="en-US" sz="1400" dirty="0"/>
          </a:p>
        </p:txBody>
      </p:sp>
      <p:sp>
        <p:nvSpPr>
          <p:cNvPr id="33" name="Text 26"/>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200" dirty="0">
                <a:solidFill>
                  <a:srgbClr val="6B7280"/>
                </a:solidFill>
              </a:rPr>
              <a:t>YOLOv8n (nano, 3.0 M parameters) · trained 100 epochs at 960 px on 88,083 images (105k-image dataset)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Accuracy beats the 0.75 target</a:t>
            </a:r>
            <a:endParaRPr lang="en-US" sz="3200" dirty="0"/>
          </a:p>
        </p:txBody>
      </p:sp>
      <p:sp>
        <p:nvSpPr>
          <p:cNvPr id="3" name="accuracy summary"/>
          <p:cNvSpPr/>
          <p:nvPr/>
        </p:nvSpPr>
        <p:spPr>
          <a:xfrm>
            <a:off x="548640" y="1417320"/>
            <a:ext cx="3291840" cy="4663440"/>
          </a:xfrm>
          <a:prstGeom prst="roundRect">
            <a:avLst>
              <a:gd name="adj" fmla="val 3333"/>
            </a:avLst>
          </a:prstGeom>
          <a:solidFill>
            <a:srgbClr val="0F1623"/>
          </a:solidFill>
          <a:ln w="9525">
            <a:solidFill>
              <a:srgbClr val="E4E7EC"/>
            </a:solidFill>
            <a:prstDash val="solid"/>
          </a:ln>
        </p:spPr>
      </p:sp>
      <p:sp>
        <p:nvSpPr>
          <p:cNvPr id="4" name="Text 2"/>
          <p:cNvSpPr txBox="1"/>
          <p:nvPr/>
        </p:nvSpPr>
        <p:spPr>
          <a:xfrm>
            <a:off x="822960" y="1691640"/>
            <a:ext cx="2743200" cy="1005840"/>
          </a:xfrm>
          <a:prstGeom prst="rect">
            <a:avLst/>
          </a:prstGeom>
          <a:noFill/>
          <a:ln/>
        </p:spPr>
        <p:txBody>
          <a:bodyPr wrap="square" lIns="0" tIns="0" rIns="0" bIns="0" rtlCol="0" anchor="t"/>
          <a:lstStyle/>
          <a:p>
            <a:pPr indent="0" marL="0">
              <a:buNone/>
            </a:pPr>
            <a:r>
              <a:rPr lang="en-US" sz="6400" b="1" dirty="0">
                <a:solidFill>
                  <a:srgbClr val="F5A524"/>
                </a:solidFill>
              </a:rPr>
              <a:t>0.805</a:t>
            </a:r>
            <a:endParaRPr lang="en-US" sz="6400" dirty="0"/>
          </a:p>
        </p:txBody>
      </p:sp>
      <p:sp>
        <p:nvSpPr>
          <p:cNvPr id="5" name="Text 3"/>
          <p:cNvSpPr txBox="1"/>
          <p:nvPr/>
        </p:nvSpPr>
        <p:spPr>
          <a:xfrm>
            <a:off x="822960" y="2697480"/>
            <a:ext cx="2743200" cy="640080"/>
          </a:xfrm>
          <a:prstGeom prst="rect">
            <a:avLst/>
          </a:prstGeom>
          <a:noFill/>
          <a:ln/>
        </p:spPr>
        <p:txBody>
          <a:bodyPr wrap="square" lIns="0" tIns="0" rIns="0" bIns="0" rtlCol="0" anchor="t"/>
          <a:lstStyle/>
          <a:p>
            <a:pPr indent="0" marL="0">
              <a:buNone/>
            </a:pPr>
            <a:r>
              <a:rPr lang="en-US" sz="1400" dirty="0">
                <a:solidFill>
                  <a:srgbClr val="FFFFFF"/>
                </a:solidFill>
              </a:rPr>
              <a:t>mAP50 on the leak-free test set (target 0.75)</a:t>
            </a:r>
            <a:endParaRPr lang="en-US" sz="1400" dirty="0"/>
          </a:p>
        </p:txBody>
      </p:sp>
      <p:sp>
        <p:nvSpPr>
          <p:cNvPr id="6" name="Text 4"/>
          <p:cNvSpPr txBox="1"/>
          <p:nvPr/>
        </p:nvSpPr>
        <p:spPr>
          <a:xfrm>
            <a:off x="822960" y="3520440"/>
            <a:ext cx="2743200" cy="2377440"/>
          </a:xfrm>
          <a:prstGeom prst="rect">
            <a:avLst/>
          </a:prstGeom>
          <a:noFill/>
          <a:ln/>
        </p:spPr>
        <p:txBody>
          <a:bodyPr wrap="square" lIns="0" tIns="0" rIns="0" bIns="0" rtlCol="0" anchor="t"/>
          <a:lstStyle/>
          <a:p>
            <a:pPr indent="0" marL="0">
              <a:buNone/>
            </a:pPr>
            <a:r>
              <a:rPr lang="en-US" sz="2400" b="1" dirty="0">
                <a:solidFill>
                  <a:srgbClr val="FFFFFF"/>
                </a:solidFill>
              </a:rPr>
              <a:t>0.818</a:t>
            </a:r>
            <a:endParaRPr lang="en-US" sz="1400" dirty="0"/>
          </a:p>
          <a:p>
            <a:pPr indent="0" marL="0">
              <a:buNone/>
            </a:pPr>
            <a:r>
              <a:rPr lang="en-US" sz="1300" dirty="0">
                <a:solidFill>
                  <a:srgbClr val="C3CDDB"/>
                </a:solidFill>
              </a:rPr>
              <a:t>on the full test set</a:t>
            </a:r>
            <a:endParaRPr lang="en-US" sz="1400" dirty="0"/>
          </a:p>
          <a:p>
            <a:pPr indent="0" marL="0">
              <a:buNone/>
            </a:pPr>
            <a:r>
              <a:rPr lang="en-US" sz="800" dirty="0">
                <a:solidFill>
                  <a:schemeClr val="tx1"/>
                </a:solidFill>
              </a:rPr>
              <a:t> </a:t>
            </a:r>
            <a:endParaRPr lang="en-US" sz="1400" dirty="0"/>
          </a:p>
          <a:p>
            <a:pPr indent="0" marL="0">
              <a:buNone/>
            </a:pPr>
            <a:r>
              <a:rPr lang="en-US" sz="2400" b="1" dirty="0">
                <a:solidFill>
                  <a:srgbClr val="FFFFFF"/>
                </a:solidFill>
              </a:rPr>
              <a:t>3.7 MB</a:t>
            </a:r>
            <a:endParaRPr lang="en-US" sz="1400" dirty="0"/>
          </a:p>
          <a:p>
            <a:pPr indent="0" marL="0">
              <a:buNone/>
            </a:pPr>
            <a:r>
              <a:rPr lang="en-US" sz="1300" dirty="0">
                <a:solidFill>
                  <a:srgbClr val="C3CDDB"/>
                </a:solidFill>
              </a:rPr>
              <a:t>INT8 model for the Rubik Pi, same 0.805</a:t>
            </a:r>
            <a:endParaRPr lang="en-US" sz="1400" dirty="0"/>
          </a:p>
        </p:txBody>
      </p:sp>
      <p:graphicFrame>
        <p:nvGraphicFramePr>
          <p:cNvPr id="7" name="accuracy per class chart" descr=""/>
          <p:cNvGraphicFramePr/>
          <p:nvPr/>
        </p:nvGraphicFramePr>
        <p:xfrm>
          <a:off x="4114800" y="1325880"/>
          <a:ext cx="7498080" cy="48006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v8 is the best model so far</a:t>
            </a:r>
            <a:endParaRPr lang="en-US" sz="3200" dirty="0"/>
          </a:p>
        </p:txBody>
      </p:sp>
      <p:graphicFrame>
        <p:nvGraphicFramePr>
          <p:cNvPr id="8" name="model comparison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4206240"/>
                <a:gridCol w="2286000"/>
                <a:gridCol w="2286000"/>
                <a:gridCol w="2286000"/>
              </a:tblGrid>
              <a:tr h="566928">
                <a:tc>
                  <a:txBody>
                    <a:bodyPr/>
                    <a:lstStyle/>
                    <a:p>
                      <a:pPr indent="0" marL="0">
                        <a:buNone/>
                      </a:pPr>
                      <a:r>
                        <a:rPr lang="en-US" sz="1500" b="1" dirty="0">
                          <a:solidFill>
                            <a:srgbClr val="FFFFFF"/>
                          </a:solidFill>
                        </a:rPr>
                        <a:t>Measured on 14 test videos</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0F1623"/>
                    </a:solidFill>
                  </a:tcPr>
                </a:tc>
                <a:tc>
                  <a:txBody>
                    <a:bodyPr/>
                    <a:lstStyle/>
                    <a:p>
                      <a:pPr algn="ctr" indent="0" marL="0">
                        <a:buNone/>
                      </a:pPr>
                      <a:r>
                        <a:rPr lang="en-US" sz="1500" b="1" dirty="0">
                          <a:solidFill>
                            <a:srgbClr val="FFFFFF"/>
                          </a:solidFill>
                        </a:rPr>
                        <a:t>v5</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0F1623"/>
                    </a:solidFill>
                  </a:tcPr>
                </a:tc>
                <a:tc>
                  <a:txBody>
                    <a:bodyPr/>
                    <a:lstStyle/>
                    <a:p>
                      <a:pPr algn="ctr" indent="0" marL="0">
                        <a:buNone/>
                      </a:pPr>
                      <a:r>
                        <a:rPr lang="en-US" sz="1500" b="1" dirty="0">
                          <a:solidFill>
                            <a:srgbClr val="FFFFFF"/>
                          </a:solidFill>
                        </a:rPr>
                        <a:t>v6</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0F1623"/>
                    </a:solidFill>
                  </a:tcPr>
                </a:tc>
                <a:tc>
                  <a:txBody>
                    <a:bodyPr/>
                    <a:lstStyle/>
                    <a:p>
                      <a:pPr algn="ctr" indent="0" marL="0">
                        <a:buNone/>
                      </a:pPr>
                      <a:r>
                        <a:rPr lang="en-US" sz="1500" b="1" dirty="0">
                          <a:solidFill>
                            <a:srgbClr val="FFFFFF"/>
                          </a:solidFill>
                        </a:rPr>
                        <a:t>v8</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0F1623"/>
                    </a:solidFill>
                  </a:tcPr>
                </a:tc>
              </a:tr>
              <a:tr h="566928">
                <a:tc>
                  <a:txBody>
                    <a:bodyPr/>
                    <a:lstStyle/>
                    <a:p>
                      <a:pPr algn="l" indent="0" marL="0">
                        <a:buNone/>
                      </a:pPr>
                      <a:r>
                        <a:rPr lang="en-US" sz="1500" dirty="0">
                          <a:solidFill>
                            <a:srgbClr val="0F1623"/>
                          </a:solidFill>
                        </a:rPr>
                        <a:t>Vehicles detected</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623"/>
                          </a:solidFill>
                        </a:rPr>
                        <a:t>104,630</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623"/>
                          </a:solidFill>
                        </a:rPr>
                        <a:t>43,023</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F1623"/>
                          </a:solidFill>
                        </a:rPr>
                        <a:t>133,439</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DF3E1"/>
                    </a:solidFill>
                  </a:tcPr>
                </a:tc>
              </a:tr>
              <a:tr h="566928">
                <a:tc>
                  <a:txBody>
                    <a:bodyPr/>
                    <a:lstStyle/>
                    <a:p>
                      <a:pPr algn="l" indent="0" marL="0">
                        <a:buNone/>
                      </a:pPr>
                      <a:r>
                        <a:rPr lang="en-US" sz="1500" dirty="0">
                          <a:solidFill>
                            <a:srgbClr val="0F1623"/>
                          </a:solidFill>
                        </a:rPr>
                        <a:t>Correct number plates read</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623"/>
                          </a:solidFill>
                        </a:rPr>
                        <a:t>10</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623"/>
                          </a:solidFill>
                        </a:rPr>
                        <a:t>31</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F1623"/>
                          </a:solidFill>
                        </a:rPr>
                        <a:t>31</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DF3E1"/>
                    </a:solidFill>
                  </a:tcPr>
                </a:tc>
              </a:tr>
              <a:tr h="566928">
                <a:tc>
                  <a:txBody>
                    <a:bodyPr/>
                    <a:lstStyle/>
                    <a:p>
                      <a:pPr algn="l" indent="0" marL="0">
                        <a:buNone/>
                      </a:pPr>
                      <a:r>
                        <a:rPr lang="en-US" sz="1500" dirty="0">
                          <a:solidFill>
                            <a:srgbClr val="0F1623"/>
                          </a:solidFill>
                        </a:rPr>
                        <a:t>Accident detection</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623"/>
                          </a:solidFill>
                        </a:rPr>
                        <a:t>not possible</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623"/>
                          </a:solidFill>
                        </a:rPr>
                        <a:t>misses vehicles</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F1623"/>
                          </a:solidFill>
                        </a:rPr>
                        <a:t>yes</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DF3E1"/>
                    </a:solidFill>
                  </a:tcPr>
                </a:tc>
              </a:tr>
              <a:tr h="566928">
                <a:tc>
                  <a:txBody>
                    <a:bodyPr/>
                    <a:lstStyle/>
                    <a:p>
                      <a:pPr algn="l" indent="0" marL="0">
                        <a:buNone/>
                      </a:pPr>
                      <a:r>
                        <a:rPr lang="en-US" sz="1500" dirty="0">
                          <a:solidFill>
                            <a:srgbClr val="0F1623"/>
                          </a:solidFill>
                        </a:rPr>
                        <a:t>Fire detection</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623"/>
                          </a:solidFill>
                        </a:rPr>
                        <a:t>not possible</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623"/>
                          </a:solidFill>
                        </a:rPr>
                        <a:t>not possible</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F1623"/>
                          </a:solidFill>
                        </a:rPr>
                        <a:t>yes</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DF3E1"/>
                    </a:solidFill>
                  </a:tcPr>
                </a:tc>
              </a:tr>
              <a:tr h="566928">
                <a:tc>
                  <a:txBody>
                    <a:bodyPr/>
                    <a:lstStyle/>
                    <a:p>
                      <a:pPr algn="l" indent="0" marL="0">
                        <a:buNone/>
                      </a:pPr>
                      <a:r>
                        <a:rPr lang="en-US" sz="1500" dirty="0">
                          <a:solidFill>
                            <a:srgbClr val="0F1623"/>
                          </a:solidFill>
                        </a:rPr>
                        <a:t>Count stability (lower is better)</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623"/>
                          </a:solidFill>
                        </a:rPr>
                        <a:t>12.1%</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F1623"/>
                          </a:solidFill>
                        </a:rPr>
                        <a:t>24.0%</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F1623"/>
                          </a:solidFill>
                        </a:rPr>
                        <a:t>8.3%</a:t>
                      </a:r>
                      <a:endParaRPr lang="en-US" sz="1500" dirty="0"/>
                    </a:p>
                  </a:txBody>
                  <a:tcPr marL="91440" marR="91440" marT="45720" marB="45720"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DF3E1"/>
                    </a:solidFill>
                  </a:tcPr>
                </a:tc>
              </a:tr>
            </a:tbl>
          </a:graphicData>
        </a:graphic>
      </p:graphicFrame>
      <p:sp>
        <p:nvSpPr>
          <p:cNvPr id="4" name="LuCircleCheck circle"/>
          <p:cNvSpPr/>
          <p:nvPr/>
        </p:nvSpPr>
        <p:spPr>
          <a:xfrm>
            <a:off x="548640" y="5349240"/>
            <a:ext cx="457200" cy="457200"/>
          </a:xfrm>
          <a:prstGeom prst="ellipse">
            <a:avLst/>
          </a:prstGeom>
          <a:solidFill>
            <a:srgbClr val="15803D"/>
          </a:solidFill>
          <a:ln/>
        </p:spPr>
      </p:sp>
      <p:pic>
        <p:nvPicPr>
          <p:cNvPr id="5" name="LuCircleCheck icon" descr="preencoded.png">    </p:cNvPr>
          <p:cNvPicPr>
            <a:picLocks noChangeAspect="1"/>
          </p:cNvPicPr>
          <p:nvPr/>
        </p:nvPicPr>
        <p:blipFill>
          <a:blip r:embed="rId1"/>
          <a:stretch>
            <a:fillRect/>
          </a:stretch>
        </p:blipFill>
        <p:spPr>
          <a:xfrm>
            <a:off x="649224" y="5449824"/>
            <a:ext cx="256032" cy="256032"/>
          </a:xfrm>
          <a:prstGeom prst="rect">
            <a:avLst/>
          </a:prstGeom>
        </p:spPr>
      </p:pic>
      <p:sp>
        <p:nvSpPr>
          <p:cNvPr id="6" name="Text 2"/>
          <p:cNvSpPr txBox="1"/>
          <p:nvPr/>
        </p:nvSpPr>
        <p:spPr>
          <a:xfrm>
            <a:off x="1188720" y="5321808"/>
            <a:ext cx="10424160" cy="548640"/>
          </a:xfrm>
          <a:prstGeom prst="rect">
            <a:avLst/>
          </a:prstGeom>
          <a:noFill/>
          <a:ln/>
        </p:spPr>
        <p:txBody>
          <a:bodyPr wrap="square" lIns="0" tIns="0" rIns="0" bIns="0" rtlCol="0" anchor="ctr"/>
          <a:lstStyle/>
          <a:p>
            <a:pPr indent="0" marL="0">
              <a:buNone/>
            </a:pPr>
            <a:r>
              <a:rPr lang="en-US" sz="1500" dirty="0">
                <a:solidFill>
                  <a:schemeClr val="tx1"/>
                </a:solidFill>
              </a:rPr>
              <a:t>Test videos: real crashes and vehicle fires were all detected; busy traffic with no incidents raised no false alerts; foreign plates were correctly ignored.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Rules that keep the output trustworthy</a:t>
            </a:r>
            <a:endParaRPr lang="en-US" sz="3200" dirty="0"/>
          </a:p>
        </p:txBody>
      </p:sp>
      <p:sp>
        <p:nvSpPr>
          <p:cNvPr id="3" name="rule 1"/>
          <p:cNvSpPr/>
          <p:nvPr/>
        </p:nvSpPr>
        <p:spPr>
          <a:xfrm>
            <a:off x="548640" y="1508760"/>
            <a:ext cx="5440680" cy="2011680"/>
          </a:xfrm>
          <a:prstGeom prst="roundRect">
            <a:avLst>
              <a:gd name="adj" fmla="val 5455"/>
            </a:avLst>
          </a:prstGeom>
          <a:solidFill>
            <a:srgbClr val="F3F5F8"/>
          </a:solidFill>
          <a:ln w="9525">
            <a:solidFill>
              <a:srgbClr val="E4E7EC"/>
            </a:solidFill>
            <a:prstDash val="solid"/>
          </a:ln>
        </p:spPr>
      </p:sp>
      <p:sp>
        <p:nvSpPr>
          <p:cNvPr id="4" name="LuRoute circle"/>
          <p:cNvSpPr/>
          <p:nvPr/>
        </p:nvSpPr>
        <p:spPr>
          <a:xfrm>
            <a:off x="822960" y="1783080"/>
            <a:ext cx="603504" cy="603504"/>
          </a:xfrm>
          <a:prstGeom prst="ellipse">
            <a:avLst/>
          </a:prstGeom>
          <a:solidFill>
            <a:srgbClr val="F5A524"/>
          </a:solidFill>
          <a:ln/>
        </p:spPr>
      </p:sp>
      <p:pic>
        <p:nvPicPr>
          <p:cNvPr id="5" name="LuRoute icon" descr="preencoded.png">    </p:cNvPr>
          <p:cNvPicPr>
            <a:picLocks noChangeAspect="1"/>
          </p:cNvPicPr>
          <p:nvPr/>
        </p:nvPicPr>
        <p:blipFill>
          <a:blip r:embed="rId1"/>
          <a:stretch>
            <a:fillRect/>
          </a:stretch>
        </p:blipFill>
        <p:spPr>
          <a:xfrm>
            <a:off x="955731" y="1915851"/>
            <a:ext cx="337962" cy="337962"/>
          </a:xfrm>
          <a:prstGeom prst="rect">
            <a:avLst/>
          </a:prstGeom>
        </p:spPr>
      </p:pic>
      <p:sp>
        <p:nvSpPr>
          <p:cNvPr id="6" name="Text 3"/>
          <p:cNvSpPr txBox="1"/>
          <p:nvPr/>
        </p:nvSpPr>
        <p:spPr>
          <a:xfrm>
            <a:off x="1645920" y="1801368"/>
            <a:ext cx="4114800" cy="457200"/>
          </a:xfrm>
          <a:prstGeom prst="rect">
            <a:avLst/>
          </a:prstGeom>
          <a:noFill/>
          <a:ln/>
        </p:spPr>
        <p:txBody>
          <a:bodyPr wrap="square" lIns="0" tIns="0" rIns="0" bIns="0" rtlCol="0" anchor="t"/>
          <a:lstStyle/>
          <a:p>
            <a:pPr indent="0" marL="0">
              <a:buNone/>
            </a:pPr>
            <a:r>
              <a:rPr lang="en-US" sz="1900" b="1" dirty="0">
                <a:solidFill>
                  <a:schemeClr val="tx1"/>
                </a:solidFill>
              </a:rPr>
              <a:t>Counted once</a:t>
            </a:r>
            <a:endParaRPr lang="en-US" sz="1900" dirty="0"/>
          </a:p>
        </p:txBody>
      </p:sp>
      <p:sp>
        <p:nvSpPr>
          <p:cNvPr id="7" name="Text 4"/>
          <p:cNvSpPr txBox="1"/>
          <p:nvPr/>
        </p:nvSpPr>
        <p:spPr>
          <a:xfrm>
            <a:off x="1645920" y="2313432"/>
            <a:ext cx="4114800" cy="1051560"/>
          </a:xfrm>
          <a:prstGeom prst="rect">
            <a:avLst/>
          </a:prstGeom>
          <a:noFill/>
          <a:ln/>
        </p:spPr>
        <p:txBody>
          <a:bodyPr wrap="square" lIns="0" tIns="0" rIns="0" bIns="0" rtlCol="0" anchor="t"/>
          <a:lstStyle/>
          <a:p>
            <a:pPr indent="0" marL="0">
              <a:buNone/>
            </a:pPr>
            <a:r>
              <a:rPr lang="en-US" sz="1500" dirty="0">
                <a:solidFill>
                  <a:schemeClr val="tx2"/>
                </a:solidFill>
              </a:rPr>
              <a:t>Each vehicle keeps one track ID across frames, so it appears once in the counts and the report.</a:t>
            </a:r>
            <a:endParaRPr lang="en-US" sz="1500" dirty="0"/>
          </a:p>
        </p:txBody>
      </p:sp>
      <p:sp>
        <p:nvSpPr>
          <p:cNvPr id="8" name="rule 2"/>
          <p:cNvSpPr/>
          <p:nvPr/>
        </p:nvSpPr>
        <p:spPr>
          <a:xfrm>
            <a:off x="6172200" y="1508760"/>
            <a:ext cx="5440680" cy="2011680"/>
          </a:xfrm>
          <a:prstGeom prst="roundRect">
            <a:avLst>
              <a:gd name="adj" fmla="val 5455"/>
            </a:avLst>
          </a:prstGeom>
          <a:solidFill>
            <a:srgbClr val="F3F5F8"/>
          </a:solidFill>
          <a:ln w="9525">
            <a:solidFill>
              <a:srgbClr val="E4E7EC"/>
            </a:solidFill>
            <a:prstDash val="solid"/>
          </a:ln>
        </p:spPr>
      </p:sp>
      <p:sp>
        <p:nvSpPr>
          <p:cNvPr id="9" name="LuTriangleAlert circle"/>
          <p:cNvSpPr/>
          <p:nvPr/>
        </p:nvSpPr>
        <p:spPr>
          <a:xfrm>
            <a:off x="6446520" y="1783080"/>
            <a:ext cx="603504" cy="603504"/>
          </a:xfrm>
          <a:prstGeom prst="ellipse">
            <a:avLst/>
          </a:prstGeom>
          <a:solidFill>
            <a:srgbClr val="F5A524"/>
          </a:solidFill>
          <a:ln/>
        </p:spPr>
      </p:sp>
      <p:pic>
        <p:nvPicPr>
          <p:cNvPr id="10" name="LuTriangleAlert icon" descr="preencoded.png">    </p:cNvPr>
          <p:cNvPicPr>
            <a:picLocks noChangeAspect="1"/>
          </p:cNvPicPr>
          <p:nvPr/>
        </p:nvPicPr>
        <p:blipFill>
          <a:blip r:embed="rId2"/>
          <a:stretch>
            <a:fillRect/>
          </a:stretch>
        </p:blipFill>
        <p:spPr>
          <a:xfrm>
            <a:off x="6579291" y="1915851"/>
            <a:ext cx="337962" cy="337962"/>
          </a:xfrm>
          <a:prstGeom prst="rect">
            <a:avLst/>
          </a:prstGeom>
        </p:spPr>
      </p:pic>
      <p:sp>
        <p:nvSpPr>
          <p:cNvPr id="11" name="Text 7"/>
          <p:cNvSpPr txBox="1"/>
          <p:nvPr/>
        </p:nvSpPr>
        <p:spPr>
          <a:xfrm>
            <a:off x="7269480" y="1801368"/>
            <a:ext cx="4114800" cy="457200"/>
          </a:xfrm>
          <a:prstGeom prst="rect">
            <a:avLst/>
          </a:prstGeom>
          <a:noFill/>
          <a:ln/>
        </p:spPr>
        <p:txBody>
          <a:bodyPr wrap="square" lIns="0" tIns="0" rIns="0" bIns="0" rtlCol="0" anchor="t"/>
          <a:lstStyle/>
          <a:p>
            <a:pPr indent="0" marL="0">
              <a:buNone/>
            </a:pPr>
            <a:r>
              <a:rPr lang="en-US" sz="1900" b="1" dirty="0">
                <a:solidFill>
                  <a:schemeClr val="tx1"/>
                </a:solidFill>
              </a:rPr>
              <a:t>No single-frame alarms</a:t>
            </a:r>
            <a:endParaRPr lang="en-US" sz="1900" dirty="0"/>
          </a:p>
        </p:txBody>
      </p:sp>
      <p:sp>
        <p:nvSpPr>
          <p:cNvPr id="12" name="Text 8"/>
          <p:cNvSpPr txBox="1"/>
          <p:nvPr/>
        </p:nvSpPr>
        <p:spPr>
          <a:xfrm>
            <a:off x="7269480" y="2313432"/>
            <a:ext cx="4114800" cy="1051560"/>
          </a:xfrm>
          <a:prstGeom prst="rect">
            <a:avLst/>
          </a:prstGeom>
          <a:noFill/>
          <a:ln/>
        </p:spPr>
        <p:txBody>
          <a:bodyPr wrap="square" lIns="0" tIns="0" rIns="0" bIns="0" rtlCol="0" anchor="t"/>
          <a:lstStyle/>
          <a:p>
            <a:pPr indent="0" marL="0">
              <a:buNone/>
            </a:pPr>
            <a:r>
              <a:rPr lang="en-US" sz="1500" dirty="0">
                <a:solidFill>
                  <a:schemeClr val="tx2"/>
                </a:solidFill>
              </a:rPr>
              <a:t>An accident or fire must be seen steadily for about a second before an alert is raised.</a:t>
            </a:r>
            <a:endParaRPr lang="en-US" sz="1500" dirty="0"/>
          </a:p>
        </p:txBody>
      </p:sp>
      <p:sp>
        <p:nvSpPr>
          <p:cNvPr id="13" name="rule 3"/>
          <p:cNvSpPr/>
          <p:nvPr/>
        </p:nvSpPr>
        <p:spPr>
          <a:xfrm>
            <a:off x="548640" y="3749040"/>
            <a:ext cx="5440680" cy="2011680"/>
          </a:xfrm>
          <a:prstGeom prst="roundRect">
            <a:avLst>
              <a:gd name="adj" fmla="val 5455"/>
            </a:avLst>
          </a:prstGeom>
          <a:solidFill>
            <a:srgbClr val="F3F5F8"/>
          </a:solidFill>
          <a:ln w="9525">
            <a:solidFill>
              <a:srgbClr val="E4E7EC"/>
            </a:solidFill>
            <a:prstDash val="solid"/>
          </a:ln>
        </p:spPr>
      </p:sp>
      <p:sp>
        <p:nvSpPr>
          <p:cNvPr id="14" name="LuIdCard circle"/>
          <p:cNvSpPr/>
          <p:nvPr/>
        </p:nvSpPr>
        <p:spPr>
          <a:xfrm>
            <a:off x="822960" y="4023360"/>
            <a:ext cx="603504" cy="603504"/>
          </a:xfrm>
          <a:prstGeom prst="ellipse">
            <a:avLst/>
          </a:prstGeom>
          <a:solidFill>
            <a:srgbClr val="F5A524"/>
          </a:solidFill>
          <a:ln/>
        </p:spPr>
      </p:sp>
      <p:pic>
        <p:nvPicPr>
          <p:cNvPr id="15" name="LuIdCard icon" descr="preencoded.png">    </p:cNvPr>
          <p:cNvPicPr>
            <a:picLocks noChangeAspect="1"/>
          </p:cNvPicPr>
          <p:nvPr/>
        </p:nvPicPr>
        <p:blipFill>
          <a:blip r:embed="rId3"/>
          <a:stretch>
            <a:fillRect/>
          </a:stretch>
        </p:blipFill>
        <p:spPr>
          <a:xfrm>
            <a:off x="955731" y="4156131"/>
            <a:ext cx="337962" cy="337962"/>
          </a:xfrm>
          <a:prstGeom prst="rect">
            <a:avLst/>
          </a:prstGeom>
        </p:spPr>
      </p:pic>
      <p:sp>
        <p:nvSpPr>
          <p:cNvPr id="16" name="Text 11"/>
          <p:cNvSpPr txBox="1"/>
          <p:nvPr/>
        </p:nvSpPr>
        <p:spPr>
          <a:xfrm>
            <a:off x="1645920" y="4041648"/>
            <a:ext cx="4114800" cy="457200"/>
          </a:xfrm>
          <a:prstGeom prst="rect">
            <a:avLst/>
          </a:prstGeom>
          <a:noFill/>
          <a:ln/>
        </p:spPr>
        <p:txBody>
          <a:bodyPr wrap="square" lIns="0" tIns="0" rIns="0" bIns="0" rtlCol="0" anchor="t"/>
          <a:lstStyle/>
          <a:p>
            <a:pPr indent="0" marL="0">
              <a:buNone/>
            </a:pPr>
            <a:r>
              <a:rPr lang="en-US" sz="1900" b="1" dirty="0">
                <a:solidFill>
                  <a:schemeClr val="tx1"/>
                </a:solidFill>
              </a:rPr>
              <a:t>No guessed plates</a:t>
            </a:r>
            <a:endParaRPr lang="en-US" sz="1900" dirty="0"/>
          </a:p>
        </p:txBody>
      </p:sp>
      <p:sp>
        <p:nvSpPr>
          <p:cNvPr id="17" name="Text 12"/>
          <p:cNvSpPr txBox="1"/>
          <p:nvPr/>
        </p:nvSpPr>
        <p:spPr>
          <a:xfrm>
            <a:off x="1645920" y="4553712"/>
            <a:ext cx="4114800" cy="1051560"/>
          </a:xfrm>
          <a:prstGeom prst="rect">
            <a:avLst/>
          </a:prstGeom>
          <a:noFill/>
          <a:ln/>
        </p:spPr>
        <p:txBody>
          <a:bodyPr wrap="square" lIns="0" tIns="0" rIns="0" bIns="0" rtlCol="0" anchor="t"/>
          <a:lstStyle/>
          <a:p>
            <a:pPr indent="0" marL="0">
              <a:buNone/>
            </a:pPr>
            <a:r>
              <a:rPr lang="en-US" sz="1500" dirty="0">
                <a:solidFill>
                  <a:schemeClr val="tx2"/>
                </a:solidFill>
              </a:rPr>
              <a:t>A plate is accepted only in a valid Indian format, after 5 matching readings at 85%+ OCR confidence.</a:t>
            </a:r>
            <a:endParaRPr lang="en-US" sz="1500" dirty="0"/>
          </a:p>
        </p:txBody>
      </p:sp>
      <p:sp>
        <p:nvSpPr>
          <p:cNvPr id="18" name="rule 4"/>
          <p:cNvSpPr/>
          <p:nvPr/>
        </p:nvSpPr>
        <p:spPr>
          <a:xfrm>
            <a:off x="6172200" y="3749040"/>
            <a:ext cx="5440680" cy="2011680"/>
          </a:xfrm>
          <a:prstGeom prst="roundRect">
            <a:avLst>
              <a:gd name="adj" fmla="val 5455"/>
            </a:avLst>
          </a:prstGeom>
          <a:solidFill>
            <a:srgbClr val="F3F5F8"/>
          </a:solidFill>
          <a:ln w="9525">
            <a:solidFill>
              <a:srgbClr val="E4E7EC"/>
            </a:solidFill>
            <a:prstDash val="solid"/>
          </a:ln>
        </p:spPr>
      </p:sp>
      <p:sp>
        <p:nvSpPr>
          <p:cNvPr id="19" name="LuFlame circle"/>
          <p:cNvSpPr/>
          <p:nvPr/>
        </p:nvSpPr>
        <p:spPr>
          <a:xfrm>
            <a:off x="6446520" y="4023360"/>
            <a:ext cx="603504" cy="603504"/>
          </a:xfrm>
          <a:prstGeom prst="ellipse">
            <a:avLst/>
          </a:prstGeom>
          <a:solidFill>
            <a:srgbClr val="F5A524"/>
          </a:solidFill>
          <a:ln/>
        </p:spPr>
      </p:sp>
      <p:pic>
        <p:nvPicPr>
          <p:cNvPr id="20" name="LuFlame icon" descr="preencoded.png">    </p:cNvPr>
          <p:cNvPicPr>
            <a:picLocks noChangeAspect="1"/>
          </p:cNvPicPr>
          <p:nvPr/>
        </p:nvPicPr>
        <p:blipFill>
          <a:blip r:embed="rId4"/>
          <a:stretch>
            <a:fillRect/>
          </a:stretch>
        </p:blipFill>
        <p:spPr>
          <a:xfrm>
            <a:off x="6579291" y="4156131"/>
            <a:ext cx="337962" cy="337962"/>
          </a:xfrm>
          <a:prstGeom prst="rect">
            <a:avLst/>
          </a:prstGeom>
        </p:spPr>
      </p:pic>
      <p:sp>
        <p:nvSpPr>
          <p:cNvPr id="21" name="Text 15"/>
          <p:cNvSpPr txBox="1"/>
          <p:nvPr/>
        </p:nvSpPr>
        <p:spPr>
          <a:xfrm>
            <a:off x="7269480" y="4041648"/>
            <a:ext cx="4114800" cy="457200"/>
          </a:xfrm>
          <a:prstGeom prst="rect">
            <a:avLst/>
          </a:prstGeom>
          <a:noFill/>
          <a:ln/>
        </p:spPr>
        <p:txBody>
          <a:bodyPr wrap="square" lIns="0" tIns="0" rIns="0" bIns="0" rtlCol="0" anchor="t"/>
          <a:lstStyle/>
          <a:p>
            <a:pPr indent="0" marL="0">
              <a:buNone/>
            </a:pPr>
            <a:r>
              <a:rPr lang="en-US" sz="1900" b="1" dirty="0">
                <a:solidFill>
                  <a:schemeClr val="tx1"/>
                </a:solidFill>
              </a:rPr>
              <a:t>Fire must look like fire</a:t>
            </a:r>
            <a:endParaRPr lang="en-US" sz="1900" dirty="0"/>
          </a:p>
        </p:txBody>
      </p:sp>
      <p:sp>
        <p:nvSpPr>
          <p:cNvPr id="22" name="Text 16"/>
          <p:cNvSpPr txBox="1"/>
          <p:nvPr/>
        </p:nvSpPr>
        <p:spPr>
          <a:xfrm>
            <a:off x="7269480" y="4553712"/>
            <a:ext cx="4114800" cy="1051560"/>
          </a:xfrm>
          <a:prstGeom prst="rect">
            <a:avLst/>
          </a:prstGeom>
          <a:noFill/>
          <a:ln/>
        </p:spPr>
        <p:txBody>
          <a:bodyPr wrap="square" lIns="0" tIns="0" rIns="0" bIns="0" rtlCol="0" anchor="t"/>
          <a:lstStyle/>
          <a:p>
            <a:pPr indent="0" marL="0">
              <a:buNone/>
            </a:pPr>
            <a:r>
              <a:rPr lang="en-US" sz="1500" dirty="0">
                <a:solidFill>
                  <a:schemeClr val="tx2"/>
                </a:solidFill>
              </a:rPr>
              <a:t>A fire box needs real flame colour, so grey dust after a crash is not reported as fire.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2103120"/>
            <a:ext cx="3657600" cy="548640"/>
          </a:xfrm>
          <a:prstGeom prst="rect">
            <a:avLst/>
          </a:prstGeom>
          <a:noFill/>
          <a:ln/>
        </p:spPr>
        <p:txBody>
          <a:bodyPr wrap="square" lIns="0" tIns="0" rIns="0" bIns="0" rtlCol="0"/>
          <a:lstStyle/>
          <a:p>
            <a:pPr algn="l" indent="0" marL="0">
              <a:buNone/>
            </a:pPr>
            <a:r>
              <a:rPr lang="en-US" sz="1800" b="1" dirty="0">
                <a:solidFill>
                  <a:schemeClr val="accent1"/>
                </a:solidFill>
              </a:rPr>
              <a:t>PART 2</a:t>
            </a:r>
            <a:endParaRPr lang="en-US" sz="1800" dirty="0"/>
          </a:p>
        </p:txBody>
      </p:sp>
      <p:sp>
        <p:nvSpPr>
          <p:cNvPr id="3" name="Text 0"/>
          <p:cNvSpPr/>
          <p:nvPr>
            <p:ph idx="101" type="title" hasCustomPrompt="1"/>
          </p:nvPr>
        </p:nvSpPr>
        <p:spPr>
          <a:xfrm>
            <a:off x="640080" y="2651760"/>
            <a:ext cx="10515600" cy="1097280"/>
          </a:xfrm>
          <a:prstGeom prst="rect">
            <a:avLst/>
          </a:prstGeom>
          <a:noFill/>
          <a:ln/>
        </p:spPr>
        <p:txBody>
          <a:bodyPr wrap="square" lIns="0" tIns="0" rIns="0" bIns="0" rtlCol="0" anchor="t"/>
          <a:lstStyle/>
          <a:p>
            <a:pPr algn="l" indent="0" marL="0">
              <a:buNone/>
            </a:pPr>
            <a:r>
              <a:rPr lang="en-US" sz="4000" b="1" dirty="0">
                <a:solidFill>
                  <a:schemeClr val="bg1"/>
                </a:solidFill>
              </a:rPr>
              <a:t>The VisionIQ platform</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One website, seven clear tabs</a:t>
            </a:r>
            <a:endParaRPr lang="en-US" sz="3200" dirty="0"/>
          </a:p>
        </p:txBody>
      </p:sp>
      <p:sp>
        <p:nvSpPr>
          <p:cNvPr id="3" name="Overview page screenshot frame"/>
          <p:cNvSpPr/>
          <p:nvPr/>
        </p:nvSpPr>
        <p:spPr>
          <a:xfrm>
            <a:off x="512064" y="1335024"/>
            <a:ext cx="7022592" cy="4416552"/>
          </a:xfrm>
          <a:prstGeom prst="roundRect">
            <a:avLst>
              <a:gd name="adj" fmla="val 1656"/>
            </a:avLst>
          </a:prstGeom>
          <a:solidFill>
            <a:srgbClr val="FFFFFF"/>
          </a:solidFill>
          <a:ln w="9525">
            <a:solidFill>
              <a:srgbClr val="E4E7EC"/>
            </a:solidFill>
            <a:prstDash val="solid"/>
          </a:ln>
          <a:effectLst>
            <a:outerShdw sx="100000" sy="100000" kx="0" ky="0" algn="bl" rotWithShape="0" blurRad="101600" dist="25400" dir="5400000">
              <a:srgbClr val="0F1623">
                <a:alpha val="18000"/>
              </a:srgbClr>
            </a:outerShdw>
          </a:effectLst>
        </p:spPr>
      </p:sp>
      <p:pic>
        <p:nvPicPr>
          <p:cNvPr id="4" name="Overview page screenshot" descr="Overview page screenshot">    </p:cNvPr>
          <p:cNvPicPr>
            <a:picLocks noChangeAspect="1"/>
          </p:cNvPicPr>
          <p:nvPr/>
        </p:nvPicPr>
        <p:blipFill>
          <a:blip r:embed="rId1"/>
          <a:stretch>
            <a:fillRect/>
          </a:stretch>
        </p:blipFill>
        <p:spPr>
          <a:xfrm>
            <a:off x="548640" y="1371600"/>
            <a:ext cx="6949440" cy="4343400"/>
          </a:xfrm>
          <a:prstGeom prst="rect">
            <a:avLst/>
          </a:prstGeom>
        </p:spPr>
      </p:pic>
      <p:sp>
        <p:nvSpPr>
          <p:cNvPr id="5" name="tab 1 marker"/>
          <p:cNvSpPr/>
          <p:nvPr/>
        </p:nvSpPr>
        <p:spPr>
          <a:xfrm>
            <a:off x="7863840" y="1444752"/>
            <a:ext cx="329184" cy="329184"/>
          </a:xfrm>
          <a:prstGeom prst="ellipse">
            <a:avLst/>
          </a:prstGeom>
          <a:solidFill>
            <a:srgbClr val="F5A524"/>
          </a:solidFill>
          <a:ln/>
        </p:spPr>
      </p:sp>
      <p:sp>
        <p:nvSpPr>
          <p:cNvPr id="6" name="Text 3"/>
          <p:cNvSpPr txBox="1"/>
          <p:nvPr/>
        </p:nvSpPr>
        <p:spPr>
          <a:xfrm>
            <a:off x="7863840" y="1444752"/>
            <a:ext cx="329184" cy="329184"/>
          </a:xfrm>
          <a:prstGeom prst="rect">
            <a:avLst/>
          </a:prstGeom>
          <a:noFill/>
          <a:ln/>
        </p:spPr>
        <p:txBody>
          <a:bodyPr wrap="square" lIns="0" tIns="0" rIns="0" bIns="0" rtlCol="0" anchor="ctr"/>
          <a:lstStyle/>
          <a:p>
            <a:pPr algn="ctr" indent="0" marL="0">
              <a:buNone/>
            </a:pPr>
            <a:r>
              <a:rPr lang="en-US" sz="1200" b="1" dirty="0">
                <a:solidFill>
                  <a:srgbClr val="0F1623"/>
                </a:solidFill>
              </a:rPr>
              <a:t>1</a:t>
            </a:r>
            <a:endParaRPr lang="en-US" sz="1200" dirty="0"/>
          </a:p>
        </p:txBody>
      </p:sp>
      <p:sp>
        <p:nvSpPr>
          <p:cNvPr id="7" name="Text 4"/>
          <p:cNvSpPr txBox="1"/>
          <p:nvPr/>
        </p:nvSpPr>
        <p:spPr>
          <a:xfrm>
            <a:off x="8366760" y="1371600"/>
            <a:ext cx="3291840" cy="566928"/>
          </a:xfrm>
          <a:prstGeom prst="rect">
            <a:avLst/>
          </a:prstGeom>
          <a:noFill/>
          <a:ln/>
        </p:spPr>
        <p:txBody>
          <a:bodyPr wrap="square" lIns="0" tIns="0" rIns="0" bIns="0" rtlCol="0" anchor="t"/>
          <a:lstStyle/>
          <a:p>
            <a:pPr indent="0" marL="0">
              <a:buNone/>
            </a:pPr>
            <a:r>
              <a:rPr lang="en-US" sz="1500" b="1" dirty="0">
                <a:solidFill>
                  <a:schemeClr val="tx1"/>
                </a:solidFill>
              </a:rPr>
              <a:t>Overview</a:t>
            </a:r>
            <a:endParaRPr lang="en-US" sz="1400" dirty="0"/>
          </a:p>
          <a:p>
            <a:pPr indent="0" marL="0">
              <a:buNone/>
            </a:pPr>
            <a:r>
              <a:rPr lang="en-US" sz="1200" dirty="0">
                <a:solidFill>
                  <a:srgbClr val="1E2B42"/>
                </a:solidFill>
              </a:rPr>
              <a:t>Totals, recent videos, plates and alerts</a:t>
            </a:r>
            <a:endParaRPr lang="en-US" sz="1400" dirty="0"/>
          </a:p>
        </p:txBody>
      </p:sp>
      <p:sp>
        <p:nvSpPr>
          <p:cNvPr id="8" name="tab 2 marker"/>
          <p:cNvSpPr/>
          <p:nvPr/>
        </p:nvSpPr>
        <p:spPr>
          <a:xfrm>
            <a:off x="7863840" y="2066544"/>
            <a:ext cx="329184" cy="329184"/>
          </a:xfrm>
          <a:prstGeom prst="ellipse">
            <a:avLst/>
          </a:prstGeom>
          <a:solidFill>
            <a:srgbClr val="F5A524"/>
          </a:solidFill>
          <a:ln/>
        </p:spPr>
      </p:sp>
      <p:sp>
        <p:nvSpPr>
          <p:cNvPr id="9" name="Text 6"/>
          <p:cNvSpPr txBox="1"/>
          <p:nvPr/>
        </p:nvSpPr>
        <p:spPr>
          <a:xfrm>
            <a:off x="7863840" y="2066544"/>
            <a:ext cx="329184" cy="329184"/>
          </a:xfrm>
          <a:prstGeom prst="rect">
            <a:avLst/>
          </a:prstGeom>
          <a:noFill/>
          <a:ln/>
        </p:spPr>
        <p:txBody>
          <a:bodyPr wrap="square" lIns="0" tIns="0" rIns="0" bIns="0" rtlCol="0" anchor="ctr"/>
          <a:lstStyle/>
          <a:p>
            <a:pPr algn="ctr" indent="0" marL="0">
              <a:buNone/>
            </a:pPr>
            <a:r>
              <a:rPr lang="en-US" sz="1200" b="1" dirty="0">
                <a:solidFill>
                  <a:srgbClr val="0F1623"/>
                </a:solidFill>
              </a:rPr>
              <a:t>2</a:t>
            </a:r>
            <a:endParaRPr lang="en-US" sz="1200" dirty="0"/>
          </a:p>
        </p:txBody>
      </p:sp>
      <p:sp>
        <p:nvSpPr>
          <p:cNvPr id="10" name="Text 7"/>
          <p:cNvSpPr txBox="1"/>
          <p:nvPr/>
        </p:nvSpPr>
        <p:spPr>
          <a:xfrm>
            <a:off x="8366760" y="1993392"/>
            <a:ext cx="3291840" cy="566928"/>
          </a:xfrm>
          <a:prstGeom prst="rect">
            <a:avLst/>
          </a:prstGeom>
          <a:noFill/>
          <a:ln/>
        </p:spPr>
        <p:txBody>
          <a:bodyPr wrap="square" lIns="0" tIns="0" rIns="0" bIns="0" rtlCol="0" anchor="t"/>
          <a:lstStyle/>
          <a:p>
            <a:pPr indent="0" marL="0">
              <a:buNone/>
            </a:pPr>
            <a:r>
              <a:rPr lang="en-US" sz="1500" b="1" dirty="0">
                <a:solidFill>
                  <a:schemeClr val="tx1"/>
                </a:solidFill>
              </a:rPr>
              <a:t>Dashboard</a:t>
            </a:r>
            <a:endParaRPr lang="en-US" sz="1400" dirty="0"/>
          </a:p>
          <a:p>
            <a:pPr indent="0" marL="0">
              <a:buNone/>
            </a:pPr>
            <a:r>
              <a:rPr lang="en-US" sz="1200" dirty="0">
                <a:solidFill>
                  <a:srgbClr val="1E2B42"/>
                </a:solidFill>
              </a:rPr>
              <a:t>Charts by time range and video</a:t>
            </a:r>
            <a:endParaRPr lang="en-US" sz="1400" dirty="0"/>
          </a:p>
        </p:txBody>
      </p:sp>
      <p:sp>
        <p:nvSpPr>
          <p:cNvPr id="11" name="tab 3 marker"/>
          <p:cNvSpPr/>
          <p:nvPr/>
        </p:nvSpPr>
        <p:spPr>
          <a:xfrm>
            <a:off x="7863840" y="2688336"/>
            <a:ext cx="329184" cy="329184"/>
          </a:xfrm>
          <a:prstGeom prst="ellipse">
            <a:avLst/>
          </a:prstGeom>
          <a:solidFill>
            <a:srgbClr val="F5A524"/>
          </a:solidFill>
          <a:ln/>
        </p:spPr>
      </p:sp>
      <p:sp>
        <p:nvSpPr>
          <p:cNvPr id="12" name="Text 9"/>
          <p:cNvSpPr txBox="1"/>
          <p:nvPr/>
        </p:nvSpPr>
        <p:spPr>
          <a:xfrm>
            <a:off x="7863840" y="2688336"/>
            <a:ext cx="329184" cy="329184"/>
          </a:xfrm>
          <a:prstGeom prst="rect">
            <a:avLst/>
          </a:prstGeom>
          <a:noFill/>
          <a:ln/>
        </p:spPr>
        <p:txBody>
          <a:bodyPr wrap="square" lIns="0" tIns="0" rIns="0" bIns="0" rtlCol="0" anchor="ctr"/>
          <a:lstStyle/>
          <a:p>
            <a:pPr algn="ctr" indent="0" marL="0">
              <a:buNone/>
            </a:pPr>
            <a:r>
              <a:rPr lang="en-US" sz="1200" b="1" dirty="0">
                <a:solidFill>
                  <a:srgbClr val="0F1623"/>
                </a:solidFill>
              </a:rPr>
              <a:t>3</a:t>
            </a:r>
            <a:endParaRPr lang="en-US" sz="1200" dirty="0"/>
          </a:p>
        </p:txBody>
      </p:sp>
      <p:sp>
        <p:nvSpPr>
          <p:cNvPr id="13" name="Text 10"/>
          <p:cNvSpPr txBox="1"/>
          <p:nvPr/>
        </p:nvSpPr>
        <p:spPr>
          <a:xfrm>
            <a:off x="8366760" y="2615184"/>
            <a:ext cx="3291840" cy="566928"/>
          </a:xfrm>
          <a:prstGeom prst="rect">
            <a:avLst/>
          </a:prstGeom>
          <a:noFill/>
          <a:ln/>
        </p:spPr>
        <p:txBody>
          <a:bodyPr wrap="square" lIns="0" tIns="0" rIns="0" bIns="0" rtlCol="0" anchor="t"/>
          <a:lstStyle/>
          <a:p>
            <a:pPr indent="0" marL="0">
              <a:buNone/>
            </a:pPr>
            <a:r>
              <a:rPr lang="en-US" sz="1500" b="1" dirty="0">
                <a:solidFill>
                  <a:schemeClr val="tx1"/>
                </a:solidFill>
              </a:rPr>
              <a:t>Videos</a:t>
            </a:r>
            <a:endParaRPr lang="en-US" sz="1400" dirty="0"/>
          </a:p>
          <a:p>
            <a:pPr indent="0" marL="0">
              <a:buNone/>
            </a:pPr>
            <a:r>
              <a:rPr lang="en-US" sz="1200" dirty="0">
                <a:solidFill>
                  <a:srgbClr val="1E2B42"/>
                </a:solidFill>
              </a:rPr>
              <a:t>Upload, library and per-video results</a:t>
            </a:r>
            <a:endParaRPr lang="en-US" sz="1400" dirty="0"/>
          </a:p>
        </p:txBody>
      </p:sp>
      <p:sp>
        <p:nvSpPr>
          <p:cNvPr id="14" name="tab 4 marker"/>
          <p:cNvSpPr/>
          <p:nvPr/>
        </p:nvSpPr>
        <p:spPr>
          <a:xfrm>
            <a:off x="7863840" y="3310128"/>
            <a:ext cx="329184" cy="329184"/>
          </a:xfrm>
          <a:prstGeom prst="ellipse">
            <a:avLst/>
          </a:prstGeom>
          <a:solidFill>
            <a:srgbClr val="F5A524"/>
          </a:solidFill>
          <a:ln/>
        </p:spPr>
      </p:sp>
      <p:sp>
        <p:nvSpPr>
          <p:cNvPr id="15" name="Text 12"/>
          <p:cNvSpPr txBox="1"/>
          <p:nvPr/>
        </p:nvSpPr>
        <p:spPr>
          <a:xfrm>
            <a:off x="7863840" y="3310128"/>
            <a:ext cx="329184" cy="329184"/>
          </a:xfrm>
          <a:prstGeom prst="rect">
            <a:avLst/>
          </a:prstGeom>
          <a:noFill/>
          <a:ln/>
        </p:spPr>
        <p:txBody>
          <a:bodyPr wrap="square" lIns="0" tIns="0" rIns="0" bIns="0" rtlCol="0" anchor="ctr"/>
          <a:lstStyle/>
          <a:p>
            <a:pPr algn="ctr" indent="0" marL="0">
              <a:buNone/>
            </a:pPr>
            <a:r>
              <a:rPr lang="en-US" sz="1200" b="1" dirty="0">
                <a:solidFill>
                  <a:srgbClr val="0F1623"/>
                </a:solidFill>
              </a:rPr>
              <a:t>4</a:t>
            </a:r>
            <a:endParaRPr lang="en-US" sz="1200" dirty="0"/>
          </a:p>
        </p:txBody>
      </p:sp>
      <p:sp>
        <p:nvSpPr>
          <p:cNvPr id="16" name="Text 13"/>
          <p:cNvSpPr txBox="1"/>
          <p:nvPr/>
        </p:nvSpPr>
        <p:spPr>
          <a:xfrm>
            <a:off x="8366760" y="3236976"/>
            <a:ext cx="3291840" cy="566928"/>
          </a:xfrm>
          <a:prstGeom prst="rect">
            <a:avLst/>
          </a:prstGeom>
          <a:noFill/>
          <a:ln/>
        </p:spPr>
        <p:txBody>
          <a:bodyPr wrap="square" lIns="0" tIns="0" rIns="0" bIns="0" rtlCol="0" anchor="t"/>
          <a:lstStyle/>
          <a:p>
            <a:pPr indent="0" marL="0">
              <a:buNone/>
            </a:pPr>
            <a:r>
              <a:rPr lang="en-US" sz="1500" b="1" dirty="0">
                <a:solidFill>
                  <a:schemeClr val="tx1"/>
                </a:solidFill>
              </a:rPr>
              <a:t>Live</a:t>
            </a:r>
            <a:endParaRPr lang="en-US" sz="1400" dirty="0"/>
          </a:p>
          <a:p>
            <a:pPr indent="0" marL="0">
              <a:buNone/>
            </a:pPr>
            <a:r>
              <a:rPr lang="en-US" sz="1200" dirty="0">
                <a:solidFill>
                  <a:srgbClr val="1E2B42"/>
                </a:solidFill>
              </a:rPr>
              <a:t>Detection on a device camera</a:t>
            </a:r>
            <a:endParaRPr lang="en-US" sz="1400" dirty="0"/>
          </a:p>
        </p:txBody>
      </p:sp>
      <p:sp>
        <p:nvSpPr>
          <p:cNvPr id="17" name="tab 5 marker"/>
          <p:cNvSpPr/>
          <p:nvPr/>
        </p:nvSpPr>
        <p:spPr>
          <a:xfrm>
            <a:off x="7863840" y="3931920"/>
            <a:ext cx="329184" cy="329184"/>
          </a:xfrm>
          <a:prstGeom prst="ellipse">
            <a:avLst/>
          </a:prstGeom>
          <a:solidFill>
            <a:srgbClr val="F5A524"/>
          </a:solidFill>
          <a:ln/>
        </p:spPr>
      </p:sp>
      <p:sp>
        <p:nvSpPr>
          <p:cNvPr id="18" name="Text 15"/>
          <p:cNvSpPr txBox="1"/>
          <p:nvPr/>
        </p:nvSpPr>
        <p:spPr>
          <a:xfrm>
            <a:off x="7863840" y="3931920"/>
            <a:ext cx="329184" cy="329184"/>
          </a:xfrm>
          <a:prstGeom prst="rect">
            <a:avLst/>
          </a:prstGeom>
          <a:noFill/>
          <a:ln/>
        </p:spPr>
        <p:txBody>
          <a:bodyPr wrap="square" lIns="0" tIns="0" rIns="0" bIns="0" rtlCol="0" anchor="ctr"/>
          <a:lstStyle/>
          <a:p>
            <a:pPr algn="ctr" indent="0" marL="0">
              <a:buNone/>
            </a:pPr>
            <a:r>
              <a:rPr lang="en-US" sz="1200" b="1" dirty="0">
                <a:solidFill>
                  <a:srgbClr val="0F1623"/>
                </a:solidFill>
              </a:rPr>
              <a:t>5</a:t>
            </a:r>
            <a:endParaRPr lang="en-US" sz="1200" dirty="0"/>
          </a:p>
        </p:txBody>
      </p:sp>
      <p:sp>
        <p:nvSpPr>
          <p:cNvPr id="19" name="Text 16"/>
          <p:cNvSpPr txBox="1"/>
          <p:nvPr/>
        </p:nvSpPr>
        <p:spPr>
          <a:xfrm>
            <a:off x="8366760" y="3858768"/>
            <a:ext cx="3291840" cy="566928"/>
          </a:xfrm>
          <a:prstGeom prst="rect">
            <a:avLst/>
          </a:prstGeom>
          <a:noFill/>
          <a:ln/>
        </p:spPr>
        <p:txBody>
          <a:bodyPr wrap="square" lIns="0" tIns="0" rIns="0" bIns="0" rtlCol="0" anchor="t"/>
          <a:lstStyle/>
          <a:p>
            <a:pPr indent="0" marL="0">
              <a:buNone/>
            </a:pPr>
            <a:r>
              <a:rPr lang="en-US" sz="1500" b="1" dirty="0">
                <a:solidFill>
                  <a:schemeClr val="tx1"/>
                </a:solidFill>
              </a:rPr>
              <a:t>Vehicles</a:t>
            </a:r>
            <a:endParaRPr lang="en-US" sz="1400" dirty="0"/>
          </a:p>
          <a:p>
            <a:pPr indent="0" marL="0">
              <a:buNone/>
            </a:pPr>
            <a:r>
              <a:rPr lang="en-US" sz="1200" dirty="0">
                <a:solidFill>
                  <a:srgbClr val="1E2B42"/>
                </a:solidFill>
              </a:rPr>
              <a:t>Plate search and sightings history</a:t>
            </a:r>
            <a:endParaRPr lang="en-US" sz="1400" dirty="0"/>
          </a:p>
        </p:txBody>
      </p:sp>
      <p:sp>
        <p:nvSpPr>
          <p:cNvPr id="20" name="tab 6 marker"/>
          <p:cNvSpPr/>
          <p:nvPr/>
        </p:nvSpPr>
        <p:spPr>
          <a:xfrm>
            <a:off x="7863840" y="4553712"/>
            <a:ext cx="329184" cy="329184"/>
          </a:xfrm>
          <a:prstGeom prst="ellipse">
            <a:avLst/>
          </a:prstGeom>
          <a:solidFill>
            <a:srgbClr val="F5A524"/>
          </a:solidFill>
          <a:ln/>
        </p:spPr>
      </p:sp>
      <p:sp>
        <p:nvSpPr>
          <p:cNvPr id="21" name="Text 18"/>
          <p:cNvSpPr txBox="1"/>
          <p:nvPr/>
        </p:nvSpPr>
        <p:spPr>
          <a:xfrm>
            <a:off x="7863840" y="4553712"/>
            <a:ext cx="329184" cy="329184"/>
          </a:xfrm>
          <a:prstGeom prst="rect">
            <a:avLst/>
          </a:prstGeom>
          <a:noFill/>
          <a:ln/>
        </p:spPr>
        <p:txBody>
          <a:bodyPr wrap="square" lIns="0" tIns="0" rIns="0" bIns="0" rtlCol="0" anchor="ctr"/>
          <a:lstStyle/>
          <a:p>
            <a:pPr algn="ctr" indent="0" marL="0">
              <a:buNone/>
            </a:pPr>
            <a:r>
              <a:rPr lang="en-US" sz="1200" b="1" dirty="0">
                <a:solidFill>
                  <a:srgbClr val="0F1623"/>
                </a:solidFill>
              </a:rPr>
              <a:t>6</a:t>
            </a:r>
            <a:endParaRPr lang="en-US" sz="1200" dirty="0"/>
          </a:p>
        </p:txBody>
      </p:sp>
      <p:sp>
        <p:nvSpPr>
          <p:cNvPr id="22" name="Text 19"/>
          <p:cNvSpPr txBox="1"/>
          <p:nvPr/>
        </p:nvSpPr>
        <p:spPr>
          <a:xfrm>
            <a:off x="8366760" y="4480560"/>
            <a:ext cx="3291840" cy="566928"/>
          </a:xfrm>
          <a:prstGeom prst="rect">
            <a:avLst/>
          </a:prstGeom>
          <a:noFill/>
          <a:ln/>
        </p:spPr>
        <p:txBody>
          <a:bodyPr wrap="square" lIns="0" tIns="0" rIns="0" bIns="0" rtlCol="0" anchor="t"/>
          <a:lstStyle/>
          <a:p>
            <a:pPr indent="0" marL="0">
              <a:buNone/>
            </a:pPr>
            <a:r>
              <a:rPr lang="en-US" sz="1500" b="1" dirty="0">
                <a:solidFill>
                  <a:schemeClr val="tx1"/>
                </a:solidFill>
              </a:rPr>
              <a:t>Ontology</a:t>
            </a:r>
            <a:endParaRPr lang="en-US" sz="1400" dirty="0"/>
          </a:p>
          <a:p>
            <a:pPr indent="0" marL="0">
              <a:buNone/>
            </a:pPr>
            <a:r>
              <a:rPr lang="en-US" sz="1200" dirty="0">
                <a:solidFill>
                  <a:srgbClr val="1E2B42"/>
                </a:solidFill>
              </a:rPr>
              <a:t>Knowledge graph from the Excel reports</a:t>
            </a:r>
            <a:endParaRPr lang="en-US" sz="1400" dirty="0"/>
          </a:p>
        </p:txBody>
      </p:sp>
      <p:sp>
        <p:nvSpPr>
          <p:cNvPr id="23" name="tab 7 marker"/>
          <p:cNvSpPr/>
          <p:nvPr/>
        </p:nvSpPr>
        <p:spPr>
          <a:xfrm>
            <a:off x="7863840" y="5175504"/>
            <a:ext cx="329184" cy="329184"/>
          </a:xfrm>
          <a:prstGeom prst="ellipse">
            <a:avLst/>
          </a:prstGeom>
          <a:solidFill>
            <a:srgbClr val="F5A524"/>
          </a:solidFill>
          <a:ln/>
        </p:spPr>
      </p:sp>
      <p:sp>
        <p:nvSpPr>
          <p:cNvPr id="24" name="Text 21"/>
          <p:cNvSpPr txBox="1"/>
          <p:nvPr/>
        </p:nvSpPr>
        <p:spPr>
          <a:xfrm>
            <a:off x="7863840" y="5175504"/>
            <a:ext cx="329184" cy="329184"/>
          </a:xfrm>
          <a:prstGeom prst="rect">
            <a:avLst/>
          </a:prstGeom>
          <a:noFill/>
          <a:ln/>
        </p:spPr>
        <p:txBody>
          <a:bodyPr wrap="square" lIns="0" tIns="0" rIns="0" bIns="0" rtlCol="0" anchor="ctr"/>
          <a:lstStyle/>
          <a:p>
            <a:pPr algn="ctr" indent="0" marL="0">
              <a:buNone/>
            </a:pPr>
            <a:r>
              <a:rPr lang="en-US" sz="1200" b="1" dirty="0">
                <a:solidFill>
                  <a:srgbClr val="0F1623"/>
                </a:solidFill>
              </a:rPr>
              <a:t>7</a:t>
            </a:r>
            <a:endParaRPr lang="en-US" sz="1200" dirty="0"/>
          </a:p>
        </p:txBody>
      </p:sp>
      <p:sp>
        <p:nvSpPr>
          <p:cNvPr id="25" name="Text 22"/>
          <p:cNvSpPr txBox="1"/>
          <p:nvPr/>
        </p:nvSpPr>
        <p:spPr>
          <a:xfrm>
            <a:off x="8366760" y="5102352"/>
            <a:ext cx="3291840" cy="566928"/>
          </a:xfrm>
          <a:prstGeom prst="rect">
            <a:avLst/>
          </a:prstGeom>
          <a:noFill/>
          <a:ln/>
        </p:spPr>
        <p:txBody>
          <a:bodyPr wrap="square" lIns="0" tIns="0" rIns="0" bIns="0" rtlCol="0" anchor="t"/>
          <a:lstStyle/>
          <a:p>
            <a:pPr indent="0" marL="0">
              <a:buNone/>
            </a:pPr>
            <a:r>
              <a:rPr lang="en-US" sz="1500" b="1" dirty="0">
                <a:solidFill>
                  <a:schemeClr val="tx1"/>
                </a:solidFill>
              </a:rPr>
              <a:t>Settings</a:t>
            </a:r>
            <a:endParaRPr lang="en-US" sz="1400" dirty="0"/>
          </a:p>
          <a:p>
            <a:pPr indent="0" marL="0">
              <a:buNone/>
            </a:pPr>
            <a:r>
              <a:rPr lang="en-US" sz="1200" dirty="0">
                <a:solidFill>
                  <a:srgbClr val="1E2B42"/>
                </a:solidFill>
              </a:rPr>
              <a:t>Road maps, model info, account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Dashboard: traffic analytics at a glance</a:t>
            </a:r>
            <a:endParaRPr lang="en-US" sz="3200" dirty="0"/>
          </a:p>
        </p:txBody>
      </p:sp>
      <p:sp>
        <p:nvSpPr>
          <p:cNvPr id="3" name="Dashboard screenshot frame"/>
          <p:cNvSpPr/>
          <p:nvPr/>
        </p:nvSpPr>
        <p:spPr>
          <a:xfrm>
            <a:off x="512064" y="1335024"/>
            <a:ext cx="7022592" cy="4416552"/>
          </a:xfrm>
          <a:prstGeom prst="roundRect">
            <a:avLst>
              <a:gd name="adj" fmla="val 1656"/>
            </a:avLst>
          </a:prstGeom>
          <a:solidFill>
            <a:srgbClr val="FFFFFF"/>
          </a:solidFill>
          <a:ln w="9525">
            <a:solidFill>
              <a:srgbClr val="E4E7EC"/>
            </a:solidFill>
            <a:prstDash val="solid"/>
          </a:ln>
          <a:effectLst>
            <a:outerShdw sx="100000" sy="100000" kx="0" ky="0" algn="bl" rotWithShape="0" blurRad="101600" dist="25400" dir="5400000">
              <a:srgbClr val="0F1623">
                <a:alpha val="18000"/>
              </a:srgbClr>
            </a:outerShdw>
          </a:effectLst>
        </p:spPr>
      </p:sp>
      <p:pic>
        <p:nvPicPr>
          <p:cNvPr id="4" name="Dashboard screenshot" descr="Dashboard screenshot">    </p:cNvPr>
          <p:cNvPicPr>
            <a:picLocks noChangeAspect="1"/>
          </p:cNvPicPr>
          <p:nvPr/>
        </p:nvPicPr>
        <p:blipFill>
          <a:blip r:embed="rId1"/>
          <a:stretch>
            <a:fillRect/>
          </a:stretch>
        </p:blipFill>
        <p:spPr>
          <a:xfrm>
            <a:off x="548640" y="1371600"/>
            <a:ext cx="6949440" cy="4343400"/>
          </a:xfrm>
          <a:prstGeom prst="rect">
            <a:avLst/>
          </a:prstGeom>
        </p:spPr>
      </p:pic>
      <p:sp>
        <p:nvSpPr>
          <p:cNvPr id="5" name="LuChartColumn circle"/>
          <p:cNvSpPr/>
          <p:nvPr/>
        </p:nvSpPr>
        <p:spPr>
          <a:xfrm>
            <a:off x="7863840" y="1417320"/>
            <a:ext cx="512064" cy="512064"/>
          </a:xfrm>
          <a:prstGeom prst="ellipse">
            <a:avLst/>
          </a:prstGeom>
          <a:solidFill>
            <a:srgbClr val="F5A524"/>
          </a:solidFill>
          <a:ln/>
        </p:spPr>
      </p:sp>
      <p:pic>
        <p:nvPicPr>
          <p:cNvPr id="6" name="LuChartColumn icon" descr="preencoded.png">    </p:cNvPr>
          <p:cNvPicPr>
            <a:picLocks noChangeAspect="1"/>
          </p:cNvPicPr>
          <p:nvPr/>
        </p:nvPicPr>
        <p:blipFill>
          <a:blip r:embed="rId2"/>
          <a:stretch>
            <a:fillRect/>
          </a:stretch>
        </p:blipFill>
        <p:spPr>
          <a:xfrm>
            <a:off x="7976494" y="1529974"/>
            <a:ext cx="286756" cy="286756"/>
          </a:xfrm>
          <a:prstGeom prst="rect">
            <a:avLst/>
          </a:prstGeom>
        </p:spPr>
      </p:pic>
      <p:sp>
        <p:nvSpPr>
          <p:cNvPr id="7" name="Text 3"/>
          <p:cNvSpPr txBox="1"/>
          <p:nvPr/>
        </p:nvSpPr>
        <p:spPr>
          <a:xfrm>
            <a:off x="8549640" y="1399032"/>
            <a:ext cx="3108960" cy="411480"/>
          </a:xfrm>
          <a:prstGeom prst="rect">
            <a:avLst/>
          </a:prstGeom>
          <a:noFill/>
          <a:ln/>
        </p:spPr>
        <p:txBody>
          <a:bodyPr wrap="square" lIns="0" tIns="0" rIns="0" bIns="0" rtlCol="0" anchor="t"/>
          <a:lstStyle/>
          <a:p>
            <a:pPr indent="0" marL="0">
              <a:buNone/>
            </a:pPr>
            <a:r>
              <a:rPr lang="en-US" sz="1600" b="1" dirty="0">
                <a:solidFill>
                  <a:schemeClr val="tx1"/>
                </a:solidFill>
              </a:rPr>
              <a:t>One filter row</a:t>
            </a:r>
            <a:endParaRPr lang="en-US" sz="1600" dirty="0"/>
          </a:p>
        </p:txBody>
      </p:sp>
      <p:sp>
        <p:nvSpPr>
          <p:cNvPr id="8" name="Text 4"/>
          <p:cNvSpPr txBox="1"/>
          <p:nvPr/>
        </p:nvSpPr>
        <p:spPr>
          <a:xfrm>
            <a:off x="8549640" y="1828800"/>
            <a:ext cx="3108960" cy="868680"/>
          </a:xfrm>
          <a:prstGeom prst="rect">
            <a:avLst/>
          </a:prstGeom>
          <a:noFill/>
          <a:ln/>
        </p:spPr>
        <p:txBody>
          <a:bodyPr wrap="square" lIns="0" tIns="0" rIns="0" bIns="0" rtlCol="0" anchor="t"/>
          <a:lstStyle/>
          <a:p>
            <a:pPr indent="0" marL="0">
              <a:buNone/>
            </a:pPr>
            <a:r>
              <a:rPr lang="en-US" sz="1400" dirty="0">
                <a:solidFill>
                  <a:schemeClr val="tx2"/>
                </a:solidFill>
              </a:rPr>
              <a:t>Today, 24 hours, 7 or 30 days, or all time, for one video or all of them.</a:t>
            </a:r>
            <a:endParaRPr lang="en-US" sz="1400" dirty="0"/>
          </a:p>
        </p:txBody>
      </p:sp>
      <p:sp>
        <p:nvSpPr>
          <p:cNvPr id="9" name="LuGauge circle"/>
          <p:cNvSpPr/>
          <p:nvPr/>
        </p:nvSpPr>
        <p:spPr>
          <a:xfrm>
            <a:off x="7863840" y="2880360"/>
            <a:ext cx="512064" cy="512064"/>
          </a:xfrm>
          <a:prstGeom prst="ellipse">
            <a:avLst/>
          </a:prstGeom>
          <a:solidFill>
            <a:srgbClr val="F5A524"/>
          </a:solidFill>
          <a:ln/>
        </p:spPr>
      </p:sp>
      <p:pic>
        <p:nvPicPr>
          <p:cNvPr id="10" name="LuGauge icon" descr="preencoded.png">    </p:cNvPr>
          <p:cNvPicPr>
            <a:picLocks noChangeAspect="1"/>
          </p:cNvPicPr>
          <p:nvPr/>
        </p:nvPicPr>
        <p:blipFill>
          <a:blip r:embed="rId3"/>
          <a:stretch>
            <a:fillRect/>
          </a:stretch>
        </p:blipFill>
        <p:spPr>
          <a:xfrm>
            <a:off x="7976494" y="2993014"/>
            <a:ext cx="286756" cy="286756"/>
          </a:xfrm>
          <a:prstGeom prst="rect">
            <a:avLst/>
          </a:prstGeom>
        </p:spPr>
      </p:pic>
      <p:sp>
        <p:nvSpPr>
          <p:cNvPr id="11" name="Text 6"/>
          <p:cNvSpPr txBox="1"/>
          <p:nvPr/>
        </p:nvSpPr>
        <p:spPr>
          <a:xfrm>
            <a:off x="8549640" y="2862072"/>
            <a:ext cx="3108960" cy="411480"/>
          </a:xfrm>
          <a:prstGeom prst="rect">
            <a:avLst/>
          </a:prstGeom>
          <a:noFill/>
          <a:ln/>
        </p:spPr>
        <p:txBody>
          <a:bodyPr wrap="square" lIns="0" tIns="0" rIns="0" bIns="0" rtlCol="0" anchor="t"/>
          <a:lstStyle/>
          <a:p>
            <a:pPr indent="0" marL="0">
              <a:buNone/>
            </a:pPr>
            <a:r>
              <a:rPr lang="en-US" sz="1600" b="1" dirty="0">
                <a:solidFill>
                  <a:schemeClr val="tx1"/>
                </a:solidFill>
              </a:rPr>
              <a:t>Key numbers</a:t>
            </a:r>
            <a:endParaRPr lang="en-US" sz="1600" dirty="0"/>
          </a:p>
        </p:txBody>
      </p:sp>
      <p:sp>
        <p:nvSpPr>
          <p:cNvPr id="12" name="Text 7"/>
          <p:cNvSpPr txBox="1"/>
          <p:nvPr/>
        </p:nvSpPr>
        <p:spPr>
          <a:xfrm>
            <a:off x="8549640" y="3291840"/>
            <a:ext cx="3108960" cy="868680"/>
          </a:xfrm>
          <a:prstGeom prst="rect">
            <a:avLst/>
          </a:prstGeom>
          <a:noFill/>
          <a:ln/>
        </p:spPr>
        <p:txBody>
          <a:bodyPr wrap="square" lIns="0" tIns="0" rIns="0" bIns="0" rtlCol="0" anchor="t"/>
          <a:lstStyle/>
          <a:p>
            <a:pPr indent="0" marL="0">
              <a:buNone/>
            </a:pPr>
            <a:r>
              <a:rPr lang="en-US" sz="1400" dirty="0">
                <a:solidFill>
                  <a:schemeClr val="tx2"/>
                </a:solidFill>
              </a:rPr>
              <a:t>Vehicles, unique plates, plate read rate, people and alerts.</a:t>
            </a:r>
            <a:endParaRPr lang="en-US" sz="1400" dirty="0"/>
          </a:p>
        </p:txBody>
      </p:sp>
      <p:sp>
        <p:nvSpPr>
          <p:cNvPr id="13" name="LuLayers circle"/>
          <p:cNvSpPr/>
          <p:nvPr/>
        </p:nvSpPr>
        <p:spPr>
          <a:xfrm>
            <a:off x="7863840" y="4343400"/>
            <a:ext cx="512064" cy="512064"/>
          </a:xfrm>
          <a:prstGeom prst="ellipse">
            <a:avLst/>
          </a:prstGeom>
          <a:solidFill>
            <a:srgbClr val="F5A524"/>
          </a:solidFill>
          <a:ln/>
        </p:spPr>
      </p:sp>
      <p:pic>
        <p:nvPicPr>
          <p:cNvPr id="14" name="LuLayers icon" descr="preencoded.png">    </p:cNvPr>
          <p:cNvPicPr>
            <a:picLocks noChangeAspect="1"/>
          </p:cNvPicPr>
          <p:nvPr/>
        </p:nvPicPr>
        <p:blipFill>
          <a:blip r:embed="rId4"/>
          <a:stretch>
            <a:fillRect/>
          </a:stretch>
        </p:blipFill>
        <p:spPr>
          <a:xfrm>
            <a:off x="7976494" y="4456054"/>
            <a:ext cx="286756" cy="286756"/>
          </a:xfrm>
          <a:prstGeom prst="rect">
            <a:avLst/>
          </a:prstGeom>
        </p:spPr>
      </p:pic>
      <p:sp>
        <p:nvSpPr>
          <p:cNvPr id="15" name="Text 9"/>
          <p:cNvSpPr txBox="1"/>
          <p:nvPr/>
        </p:nvSpPr>
        <p:spPr>
          <a:xfrm>
            <a:off x="8549640" y="4325112"/>
            <a:ext cx="3108960" cy="411480"/>
          </a:xfrm>
          <a:prstGeom prst="rect">
            <a:avLst/>
          </a:prstGeom>
          <a:noFill/>
          <a:ln/>
        </p:spPr>
        <p:txBody>
          <a:bodyPr wrap="square" lIns="0" tIns="0" rIns="0" bIns="0" rtlCol="0" anchor="t"/>
          <a:lstStyle/>
          <a:p>
            <a:pPr indent="0" marL="0">
              <a:buNone/>
            </a:pPr>
            <a:r>
              <a:rPr lang="en-US" sz="1600" b="1" dirty="0">
                <a:solidFill>
                  <a:schemeClr val="tx1"/>
                </a:solidFill>
              </a:rPr>
              <a:t>Charts</a:t>
            </a:r>
            <a:endParaRPr lang="en-US" sz="1600" dirty="0"/>
          </a:p>
        </p:txBody>
      </p:sp>
      <p:sp>
        <p:nvSpPr>
          <p:cNvPr id="16" name="Text 10"/>
          <p:cNvSpPr txBox="1"/>
          <p:nvPr/>
        </p:nvSpPr>
        <p:spPr>
          <a:xfrm>
            <a:off x="8549640" y="4754880"/>
            <a:ext cx="3108960" cy="868680"/>
          </a:xfrm>
          <a:prstGeom prst="rect">
            <a:avLst/>
          </a:prstGeom>
          <a:noFill/>
          <a:ln/>
        </p:spPr>
        <p:txBody>
          <a:bodyPr wrap="square" lIns="0" tIns="0" rIns="0" bIns="0" rtlCol="0" anchor="t"/>
          <a:lstStyle/>
          <a:p>
            <a:pPr indent="0" marL="0">
              <a:buNone/>
            </a:pPr>
            <a:r>
              <a:rPr lang="en-US" sz="1400" dirty="0">
                <a:solidFill>
                  <a:schemeClr val="tx2"/>
                </a:solidFill>
              </a:rPr>
              <a:t>Vehicles over time, vehicle mix, per-video mix by type, busiest hours.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Every vehicle traced back to its source</a:t>
            </a:r>
            <a:endParaRPr lang="en-US" sz="3200" dirty="0"/>
          </a:p>
        </p:txBody>
      </p:sp>
      <p:sp>
        <p:nvSpPr>
          <p:cNvPr id="3" name="Vehicles page screenshot frame"/>
          <p:cNvSpPr/>
          <p:nvPr/>
        </p:nvSpPr>
        <p:spPr>
          <a:xfrm>
            <a:off x="512064" y="1380744"/>
            <a:ext cx="5468112" cy="3445002"/>
          </a:xfrm>
          <a:prstGeom prst="roundRect">
            <a:avLst>
              <a:gd name="adj" fmla="val 2123"/>
            </a:avLst>
          </a:prstGeom>
          <a:solidFill>
            <a:srgbClr val="FFFFFF"/>
          </a:solidFill>
          <a:ln w="9525">
            <a:solidFill>
              <a:srgbClr val="E4E7EC"/>
            </a:solidFill>
            <a:prstDash val="solid"/>
          </a:ln>
          <a:effectLst>
            <a:outerShdw sx="100000" sy="100000" kx="0" ky="0" algn="bl" rotWithShape="0" blurRad="101600" dist="25400" dir="5400000">
              <a:srgbClr val="0F1623">
                <a:alpha val="18000"/>
              </a:srgbClr>
            </a:outerShdw>
          </a:effectLst>
        </p:spPr>
      </p:sp>
      <p:pic>
        <p:nvPicPr>
          <p:cNvPr id="4" name="Vehicles page screenshot" descr="Vehicles page screenshot">    </p:cNvPr>
          <p:cNvPicPr>
            <a:picLocks noChangeAspect="1"/>
          </p:cNvPicPr>
          <p:nvPr/>
        </p:nvPicPr>
        <p:blipFill>
          <a:blip r:embed="rId1"/>
          <a:stretch>
            <a:fillRect/>
          </a:stretch>
        </p:blipFill>
        <p:spPr>
          <a:xfrm>
            <a:off x="548640" y="1417320"/>
            <a:ext cx="5394960" cy="3371850"/>
          </a:xfrm>
          <a:prstGeom prst="rect">
            <a:avLst/>
          </a:prstGeom>
        </p:spPr>
      </p:pic>
      <p:sp>
        <p:nvSpPr>
          <p:cNvPr id="5" name="Ontology page screenshot frame"/>
          <p:cNvSpPr/>
          <p:nvPr/>
        </p:nvSpPr>
        <p:spPr>
          <a:xfrm>
            <a:off x="6181344" y="1380744"/>
            <a:ext cx="5468112" cy="3445002"/>
          </a:xfrm>
          <a:prstGeom prst="roundRect">
            <a:avLst>
              <a:gd name="adj" fmla="val 2123"/>
            </a:avLst>
          </a:prstGeom>
          <a:solidFill>
            <a:srgbClr val="FFFFFF"/>
          </a:solidFill>
          <a:ln w="9525">
            <a:solidFill>
              <a:srgbClr val="E4E7EC"/>
            </a:solidFill>
            <a:prstDash val="solid"/>
          </a:ln>
          <a:effectLst>
            <a:outerShdw sx="100000" sy="100000" kx="0" ky="0" algn="bl" rotWithShape="0" blurRad="101600" dist="25400" dir="5400000">
              <a:srgbClr val="0F1623">
                <a:alpha val="18000"/>
              </a:srgbClr>
            </a:outerShdw>
          </a:effectLst>
        </p:spPr>
      </p:sp>
      <p:pic>
        <p:nvPicPr>
          <p:cNvPr id="6" name="Ontology page screenshot" descr="Ontology page screenshot">    </p:cNvPr>
          <p:cNvPicPr>
            <a:picLocks noChangeAspect="1"/>
          </p:cNvPicPr>
          <p:nvPr/>
        </p:nvPicPr>
        <p:blipFill>
          <a:blip r:embed="rId2"/>
          <a:stretch>
            <a:fillRect/>
          </a:stretch>
        </p:blipFill>
        <p:spPr>
          <a:xfrm>
            <a:off x="6217920" y="1417320"/>
            <a:ext cx="5394960" cy="3371850"/>
          </a:xfrm>
          <a:prstGeom prst="rect">
            <a:avLst/>
          </a:prstGeom>
        </p:spPr>
      </p:pic>
      <p:sp>
        <p:nvSpPr>
          <p:cNvPr id="7" name="Text 3"/>
          <p:cNvSpPr txBox="1"/>
          <p:nvPr/>
        </p:nvSpPr>
        <p:spPr>
          <a:xfrm>
            <a:off x="548640" y="5017770"/>
            <a:ext cx="5394960" cy="822960"/>
          </a:xfrm>
          <a:prstGeom prst="rect">
            <a:avLst/>
          </a:prstGeom>
          <a:noFill/>
          <a:ln/>
        </p:spPr>
        <p:txBody>
          <a:bodyPr wrap="square" lIns="0" tIns="0" rIns="0" bIns="0" rtlCol="0" anchor="t"/>
          <a:lstStyle/>
          <a:p>
            <a:pPr indent="0" marL="0">
              <a:buNone/>
            </a:pPr>
            <a:r>
              <a:rPr lang="en-US" sz="1400" b="1" dirty="0">
                <a:solidFill>
                  <a:schemeClr val="tx1"/>
                </a:solidFill>
              </a:rPr>
              <a:t>Vehicles: </a:t>
            </a:r>
            <a:pPr indent="0" marL="0">
              <a:buNone/>
            </a:pPr>
            <a:r>
              <a:rPr lang="en-US" sz="1400" dirty="0">
                <a:solidFill>
                  <a:schemeClr val="tx1"/>
                </a:solidFill>
              </a:rPr>
              <a:t>search a plate and see each video and camera it was seen in, with photos and the Excel row.</a:t>
            </a:r>
            <a:endParaRPr lang="en-US" sz="1400" dirty="0"/>
          </a:p>
        </p:txBody>
      </p:sp>
      <p:sp>
        <p:nvSpPr>
          <p:cNvPr id="8" name="Text 4"/>
          <p:cNvSpPr txBox="1"/>
          <p:nvPr/>
        </p:nvSpPr>
        <p:spPr>
          <a:xfrm>
            <a:off x="6217920" y="5017770"/>
            <a:ext cx="5394960" cy="822960"/>
          </a:xfrm>
          <a:prstGeom prst="rect">
            <a:avLst/>
          </a:prstGeom>
          <a:noFill/>
          <a:ln/>
        </p:spPr>
        <p:txBody>
          <a:bodyPr wrap="square" lIns="0" tIns="0" rIns="0" bIns="0" rtlCol="0" anchor="t"/>
          <a:lstStyle/>
          <a:p>
            <a:pPr indent="0" marL="0">
              <a:buNone/>
            </a:pPr>
            <a:r>
              <a:rPr lang="en-US" sz="1400" b="1" dirty="0">
                <a:solidFill>
                  <a:schemeClr val="tx1"/>
                </a:solidFill>
              </a:rPr>
              <a:t>Ontology: </a:t>
            </a:r>
            <a:pPr indent="0" marL="0">
              <a:buNone/>
            </a:pPr>
            <a:r>
              <a:rPr lang="en-US" sz="1400" dirty="0">
                <a:solidFill>
                  <a:schemeClr val="tx1"/>
                </a:solidFill>
              </a:rPr>
              <a:t>each Excel report becomes a graph: one node per plate, linked to its videos, cameras, report rows and alerts.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Each video: annotated, counted and reported</a:t>
            </a:r>
            <a:endParaRPr lang="en-US" sz="3200" dirty="0"/>
          </a:p>
        </p:txBody>
      </p:sp>
      <p:sp>
        <p:nvSpPr>
          <p:cNvPr id="3" name="Video detail screenshot frame"/>
          <p:cNvSpPr/>
          <p:nvPr/>
        </p:nvSpPr>
        <p:spPr>
          <a:xfrm>
            <a:off x="512064" y="1335024"/>
            <a:ext cx="7022592" cy="4416552"/>
          </a:xfrm>
          <a:prstGeom prst="roundRect">
            <a:avLst>
              <a:gd name="adj" fmla="val 1656"/>
            </a:avLst>
          </a:prstGeom>
          <a:solidFill>
            <a:srgbClr val="FFFFFF"/>
          </a:solidFill>
          <a:ln w="9525">
            <a:solidFill>
              <a:srgbClr val="E4E7EC"/>
            </a:solidFill>
            <a:prstDash val="solid"/>
          </a:ln>
          <a:effectLst>
            <a:outerShdw sx="100000" sy="100000" kx="0" ky="0" algn="bl" rotWithShape="0" blurRad="101600" dist="25400" dir="5400000">
              <a:srgbClr val="0F1623">
                <a:alpha val="18000"/>
              </a:srgbClr>
            </a:outerShdw>
          </a:effectLst>
        </p:spPr>
      </p:sp>
      <p:pic>
        <p:nvPicPr>
          <p:cNvPr id="4" name="Video detail screenshot" descr="Video detail screenshot">    </p:cNvPr>
          <p:cNvPicPr>
            <a:picLocks noChangeAspect="1"/>
          </p:cNvPicPr>
          <p:nvPr/>
        </p:nvPicPr>
        <p:blipFill>
          <a:blip r:embed="rId1"/>
          <a:stretch>
            <a:fillRect/>
          </a:stretch>
        </p:blipFill>
        <p:spPr>
          <a:xfrm>
            <a:off x="548640" y="1371600"/>
            <a:ext cx="6949440" cy="4343400"/>
          </a:xfrm>
          <a:prstGeom prst="rect">
            <a:avLst/>
          </a:prstGeom>
        </p:spPr>
      </p:pic>
      <p:sp>
        <p:nvSpPr>
          <p:cNvPr id="5" name="LuVideo circle"/>
          <p:cNvSpPr/>
          <p:nvPr/>
        </p:nvSpPr>
        <p:spPr>
          <a:xfrm>
            <a:off x="7863840" y="1417320"/>
            <a:ext cx="457200" cy="457200"/>
          </a:xfrm>
          <a:prstGeom prst="ellipse">
            <a:avLst/>
          </a:prstGeom>
          <a:solidFill>
            <a:srgbClr val="F5A524"/>
          </a:solidFill>
          <a:ln/>
        </p:spPr>
      </p:sp>
      <p:pic>
        <p:nvPicPr>
          <p:cNvPr id="6" name="LuVideo icon" descr="preencoded.png">    </p:cNvPr>
          <p:cNvPicPr>
            <a:picLocks noChangeAspect="1"/>
          </p:cNvPicPr>
          <p:nvPr/>
        </p:nvPicPr>
        <p:blipFill>
          <a:blip r:embed="rId2"/>
          <a:stretch>
            <a:fillRect/>
          </a:stretch>
        </p:blipFill>
        <p:spPr>
          <a:xfrm>
            <a:off x="7964424" y="1517904"/>
            <a:ext cx="256032" cy="256032"/>
          </a:xfrm>
          <a:prstGeom prst="rect">
            <a:avLst/>
          </a:prstGeom>
        </p:spPr>
      </p:pic>
      <p:sp>
        <p:nvSpPr>
          <p:cNvPr id="7" name="Text 3"/>
          <p:cNvSpPr txBox="1"/>
          <p:nvPr/>
        </p:nvSpPr>
        <p:spPr>
          <a:xfrm>
            <a:off x="8503920" y="1399032"/>
            <a:ext cx="3154680" cy="777240"/>
          </a:xfrm>
          <a:prstGeom prst="rect">
            <a:avLst/>
          </a:prstGeom>
          <a:noFill/>
          <a:ln/>
        </p:spPr>
        <p:txBody>
          <a:bodyPr wrap="square" lIns="0" tIns="0" rIns="0" bIns="0" rtlCol="0" anchor="t"/>
          <a:lstStyle/>
          <a:p>
            <a:pPr indent="0" marL="0">
              <a:buNone/>
            </a:pPr>
            <a:r>
              <a:rPr lang="en-US" sz="1400" dirty="0">
                <a:solidFill>
                  <a:schemeClr val="tx1"/>
                </a:solidFill>
              </a:rPr>
              <a:t>Annotated video with every detection drawn on it</a:t>
            </a:r>
            <a:endParaRPr lang="en-US" sz="1400" dirty="0"/>
          </a:p>
        </p:txBody>
      </p:sp>
      <p:sp>
        <p:nvSpPr>
          <p:cNvPr id="8" name="LuCar circle"/>
          <p:cNvSpPr/>
          <p:nvPr/>
        </p:nvSpPr>
        <p:spPr>
          <a:xfrm>
            <a:off x="7863840" y="2286000"/>
            <a:ext cx="457200" cy="457200"/>
          </a:xfrm>
          <a:prstGeom prst="ellipse">
            <a:avLst/>
          </a:prstGeom>
          <a:solidFill>
            <a:srgbClr val="F5A524"/>
          </a:solidFill>
          <a:ln/>
        </p:spPr>
      </p:sp>
      <p:pic>
        <p:nvPicPr>
          <p:cNvPr id="9" name="LuCar icon" descr="preencoded.png">    </p:cNvPr>
          <p:cNvPicPr>
            <a:picLocks noChangeAspect="1"/>
          </p:cNvPicPr>
          <p:nvPr/>
        </p:nvPicPr>
        <p:blipFill>
          <a:blip r:embed="rId3"/>
          <a:stretch>
            <a:fillRect/>
          </a:stretch>
        </p:blipFill>
        <p:spPr>
          <a:xfrm>
            <a:off x="7964424" y="2386584"/>
            <a:ext cx="256032" cy="256032"/>
          </a:xfrm>
          <a:prstGeom prst="rect">
            <a:avLst/>
          </a:prstGeom>
        </p:spPr>
      </p:pic>
      <p:sp>
        <p:nvSpPr>
          <p:cNvPr id="10" name="Text 5"/>
          <p:cNvSpPr txBox="1"/>
          <p:nvPr/>
        </p:nvSpPr>
        <p:spPr>
          <a:xfrm>
            <a:off x="8503920" y="2267712"/>
            <a:ext cx="3154680" cy="777240"/>
          </a:xfrm>
          <a:prstGeom prst="rect">
            <a:avLst/>
          </a:prstGeom>
          <a:noFill/>
          <a:ln/>
        </p:spPr>
        <p:txBody>
          <a:bodyPr wrap="square" lIns="0" tIns="0" rIns="0" bIns="0" rtlCol="0" anchor="t"/>
          <a:lstStyle/>
          <a:p>
            <a:pPr indent="0" marL="0">
              <a:buNone/>
            </a:pPr>
            <a:r>
              <a:rPr lang="en-US" sz="1400" dirty="0">
                <a:solidFill>
                  <a:schemeClr val="tx1"/>
                </a:solidFill>
              </a:rPr>
              <a:t>Table of every tracked vehicle with photo, type and plate</a:t>
            </a:r>
            <a:endParaRPr lang="en-US" sz="1400" dirty="0"/>
          </a:p>
        </p:txBody>
      </p:sp>
      <p:sp>
        <p:nvSpPr>
          <p:cNvPr id="11" name="LuFileSpreadsheet circle"/>
          <p:cNvSpPr/>
          <p:nvPr/>
        </p:nvSpPr>
        <p:spPr>
          <a:xfrm>
            <a:off x="7863840" y="3154680"/>
            <a:ext cx="457200" cy="457200"/>
          </a:xfrm>
          <a:prstGeom prst="ellipse">
            <a:avLst/>
          </a:prstGeom>
          <a:solidFill>
            <a:srgbClr val="F5A524"/>
          </a:solidFill>
          <a:ln/>
        </p:spPr>
      </p:sp>
      <p:pic>
        <p:nvPicPr>
          <p:cNvPr id="12" name="LuFileSpreadsheet icon" descr="preencoded.png">    </p:cNvPr>
          <p:cNvPicPr>
            <a:picLocks noChangeAspect="1"/>
          </p:cNvPicPr>
          <p:nvPr/>
        </p:nvPicPr>
        <p:blipFill>
          <a:blip r:embed="rId4"/>
          <a:stretch>
            <a:fillRect/>
          </a:stretch>
        </p:blipFill>
        <p:spPr>
          <a:xfrm>
            <a:off x="7964424" y="3255264"/>
            <a:ext cx="256032" cy="256032"/>
          </a:xfrm>
          <a:prstGeom prst="rect">
            <a:avLst/>
          </a:prstGeom>
        </p:spPr>
      </p:pic>
      <p:sp>
        <p:nvSpPr>
          <p:cNvPr id="13" name="Text 7"/>
          <p:cNvSpPr txBox="1"/>
          <p:nvPr/>
        </p:nvSpPr>
        <p:spPr>
          <a:xfrm>
            <a:off x="8503920" y="3136392"/>
            <a:ext cx="3154680" cy="777240"/>
          </a:xfrm>
          <a:prstGeom prst="rect">
            <a:avLst/>
          </a:prstGeom>
          <a:noFill/>
          <a:ln/>
        </p:spPr>
        <p:txBody>
          <a:bodyPr wrap="square" lIns="0" tIns="0" rIns="0" bIns="0" rtlCol="0" anchor="t"/>
          <a:lstStyle/>
          <a:p>
            <a:pPr indent="0" marL="0">
              <a:buNone/>
            </a:pPr>
            <a:r>
              <a:rPr lang="en-US" sz="1400" dirty="0">
                <a:solidFill>
                  <a:schemeClr val="tx1"/>
                </a:solidFill>
              </a:rPr>
              <a:t>Excel report download: Vehicles and Events sheets</a:t>
            </a:r>
            <a:endParaRPr lang="en-US" sz="1400" dirty="0"/>
          </a:p>
        </p:txBody>
      </p:sp>
      <p:sp>
        <p:nvSpPr>
          <p:cNvPr id="14" name="LuZap circle"/>
          <p:cNvSpPr/>
          <p:nvPr/>
        </p:nvSpPr>
        <p:spPr>
          <a:xfrm>
            <a:off x="7863840" y="4023360"/>
            <a:ext cx="457200" cy="457200"/>
          </a:xfrm>
          <a:prstGeom prst="ellipse">
            <a:avLst/>
          </a:prstGeom>
          <a:solidFill>
            <a:srgbClr val="F5A524"/>
          </a:solidFill>
          <a:ln/>
        </p:spPr>
      </p:sp>
      <p:pic>
        <p:nvPicPr>
          <p:cNvPr id="15" name="LuZap icon" descr="preencoded.png">    </p:cNvPr>
          <p:cNvPicPr>
            <a:picLocks noChangeAspect="1"/>
          </p:cNvPicPr>
          <p:nvPr/>
        </p:nvPicPr>
        <p:blipFill>
          <a:blip r:embed="rId5"/>
          <a:stretch>
            <a:fillRect/>
          </a:stretch>
        </p:blipFill>
        <p:spPr>
          <a:xfrm>
            <a:off x="7964424" y="4123944"/>
            <a:ext cx="256032" cy="256032"/>
          </a:xfrm>
          <a:prstGeom prst="rect">
            <a:avLst/>
          </a:prstGeom>
        </p:spPr>
      </p:pic>
      <p:sp>
        <p:nvSpPr>
          <p:cNvPr id="16" name="Text 9"/>
          <p:cNvSpPr txBox="1"/>
          <p:nvPr/>
        </p:nvSpPr>
        <p:spPr>
          <a:xfrm>
            <a:off x="8503920" y="4005072"/>
            <a:ext cx="3154680" cy="777240"/>
          </a:xfrm>
          <a:prstGeom prst="rect">
            <a:avLst/>
          </a:prstGeom>
          <a:noFill/>
          <a:ln/>
        </p:spPr>
        <p:txBody>
          <a:bodyPr wrap="square" lIns="0" tIns="0" rIns="0" bIns="0" rtlCol="0" anchor="t"/>
          <a:lstStyle/>
          <a:p>
            <a:pPr indent="0" marL="0">
              <a:buNone/>
            </a:pPr>
            <a:r>
              <a:rPr lang="en-US" sz="1400" dirty="0">
                <a:solidFill>
                  <a:schemeClr val="tx1"/>
                </a:solidFill>
              </a:rPr>
              <a:t>About 53 frames per second on the GPU (RTX 4090)</a:t>
            </a:r>
            <a:endParaRPr lang="en-US" sz="1400" dirty="0"/>
          </a:p>
        </p:txBody>
      </p:sp>
      <p:sp>
        <p:nvSpPr>
          <p:cNvPr id="17" name="LuCopy circle"/>
          <p:cNvSpPr/>
          <p:nvPr/>
        </p:nvSpPr>
        <p:spPr>
          <a:xfrm>
            <a:off x="7863840" y="4892040"/>
            <a:ext cx="457200" cy="457200"/>
          </a:xfrm>
          <a:prstGeom prst="ellipse">
            <a:avLst/>
          </a:prstGeom>
          <a:solidFill>
            <a:srgbClr val="F5A524"/>
          </a:solidFill>
          <a:ln/>
        </p:spPr>
      </p:sp>
      <p:pic>
        <p:nvPicPr>
          <p:cNvPr id="18" name="LuCopy icon" descr="preencoded.png">    </p:cNvPr>
          <p:cNvPicPr>
            <a:picLocks noChangeAspect="1"/>
          </p:cNvPicPr>
          <p:nvPr/>
        </p:nvPicPr>
        <p:blipFill>
          <a:blip r:embed="rId6"/>
          <a:stretch>
            <a:fillRect/>
          </a:stretch>
        </p:blipFill>
        <p:spPr>
          <a:xfrm>
            <a:off x="7964424" y="4992624"/>
            <a:ext cx="256032" cy="256032"/>
          </a:xfrm>
          <a:prstGeom prst="rect">
            <a:avLst/>
          </a:prstGeom>
        </p:spPr>
      </p:pic>
      <p:sp>
        <p:nvSpPr>
          <p:cNvPr id="19" name="Text 11"/>
          <p:cNvSpPr txBox="1"/>
          <p:nvPr/>
        </p:nvSpPr>
        <p:spPr>
          <a:xfrm>
            <a:off x="8503920" y="4873752"/>
            <a:ext cx="3154680" cy="777240"/>
          </a:xfrm>
          <a:prstGeom prst="rect">
            <a:avLst/>
          </a:prstGeom>
          <a:noFill/>
          <a:ln/>
        </p:spPr>
        <p:txBody>
          <a:bodyPr wrap="square" lIns="0" tIns="0" rIns="0" bIns="0" rtlCol="0" anchor="t"/>
          <a:lstStyle/>
          <a:p>
            <a:pPr indent="0" marL="0">
              <a:buNone/>
            </a:pPr>
            <a:r>
              <a:rPr lang="en-US" sz="1400" dirty="0">
                <a:solidFill>
                  <a:schemeClr val="tx1"/>
                </a:solidFill>
              </a:rPr>
              <a:t>Re-uploading the same file shows the earlier result instead of processing it twice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Built to run reliably on the team network</a:t>
            </a:r>
            <a:endParaRPr lang="en-US" sz="3200" dirty="0"/>
          </a:p>
        </p:txBody>
      </p:sp>
      <p:sp>
        <p:nvSpPr>
          <p:cNvPr id="3" name="engineering 1"/>
          <p:cNvSpPr/>
          <p:nvPr/>
        </p:nvSpPr>
        <p:spPr>
          <a:xfrm>
            <a:off x="548640" y="1463040"/>
            <a:ext cx="3529584" cy="2148840"/>
          </a:xfrm>
          <a:prstGeom prst="roundRect">
            <a:avLst>
              <a:gd name="adj" fmla="val 5106"/>
            </a:avLst>
          </a:prstGeom>
          <a:solidFill>
            <a:srgbClr val="F3F5F8"/>
          </a:solidFill>
          <a:ln w="9525">
            <a:solidFill>
              <a:srgbClr val="E4E7EC"/>
            </a:solidFill>
            <a:prstDash val="solid"/>
          </a:ln>
        </p:spPr>
      </p:sp>
      <p:sp>
        <p:nvSpPr>
          <p:cNvPr id="4" name="LuServer circle"/>
          <p:cNvSpPr/>
          <p:nvPr/>
        </p:nvSpPr>
        <p:spPr>
          <a:xfrm>
            <a:off x="804672" y="1719072"/>
            <a:ext cx="548640" cy="548640"/>
          </a:xfrm>
          <a:prstGeom prst="ellipse">
            <a:avLst/>
          </a:prstGeom>
          <a:solidFill>
            <a:srgbClr val="F5A524"/>
          </a:solidFill>
          <a:ln/>
        </p:spPr>
      </p:sp>
      <p:pic>
        <p:nvPicPr>
          <p:cNvPr id="5" name="LuServer icon" descr="preencoded.png">    </p:cNvPr>
          <p:cNvPicPr>
            <a:picLocks noChangeAspect="1"/>
          </p:cNvPicPr>
          <p:nvPr/>
        </p:nvPicPr>
        <p:blipFill>
          <a:blip r:embed="rId1"/>
          <a:stretch>
            <a:fillRect/>
          </a:stretch>
        </p:blipFill>
        <p:spPr>
          <a:xfrm>
            <a:off x="925373" y="1839773"/>
            <a:ext cx="307238" cy="307238"/>
          </a:xfrm>
          <a:prstGeom prst="rect">
            <a:avLst/>
          </a:prstGeom>
        </p:spPr>
      </p:pic>
      <p:sp>
        <p:nvSpPr>
          <p:cNvPr id="6" name="Text 3"/>
          <p:cNvSpPr txBox="1"/>
          <p:nvPr/>
        </p:nvSpPr>
        <p:spPr>
          <a:xfrm>
            <a:off x="1508760" y="1792224"/>
            <a:ext cx="2377440" cy="411480"/>
          </a:xfrm>
          <a:prstGeom prst="rect">
            <a:avLst/>
          </a:prstGeom>
          <a:noFill/>
          <a:ln/>
        </p:spPr>
        <p:txBody>
          <a:bodyPr wrap="square" lIns="0" tIns="0" rIns="0" bIns="0" rtlCol="0" anchor="t"/>
          <a:lstStyle/>
          <a:p>
            <a:pPr indent="0" marL="0">
              <a:buNone/>
            </a:pPr>
            <a:r>
              <a:rPr lang="en-US" sz="1800" b="1" dirty="0">
                <a:solidFill>
                  <a:schemeClr val="tx1"/>
                </a:solidFill>
              </a:rPr>
              <a:t>One server</a:t>
            </a:r>
            <a:endParaRPr lang="en-US" sz="1800" dirty="0"/>
          </a:p>
        </p:txBody>
      </p:sp>
      <p:sp>
        <p:nvSpPr>
          <p:cNvPr id="7" name="Text 4"/>
          <p:cNvSpPr txBox="1"/>
          <p:nvPr/>
        </p:nvSpPr>
        <p:spPr>
          <a:xfrm>
            <a:off x="804672" y="2423160"/>
            <a:ext cx="3017520" cy="1051560"/>
          </a:xfrm>
          <a:prstGeom prst="rect">
            <a:avLst/>
          </a:prstGeom>
          <a:noFill/>
          <a:ln/>
        </p:spPr>
        <p:txBody>
          <a:bodyPr wrap="square" lIns="0" tIns="0" rIns="0" bIns="0" rtlCol="0" anchor="t"/>
          <a:lstStyle/>
          <a:p>
            <a:pPr indent="0" marL="0">
              <a:buNone/>
            </a:pPr>
            <a:r>
              <a:rPr lang="en-US" sz="1400" dirty="0">
                <a:solidFill>
                  <a:schemeClr val="tx2"/>
                </a:solidFill>
              </a:rPr>
              <a:t>Python backend serves the website, the API and the GPU models on one port (gunicorn).</a:t>
            </a:r>
            <a:endParaRPr lang="en-US" sz="1400" dirty="0"/>
          </a:p>
        </p:txBody>
      </p:sp>
      <p:sp>
        <p:nvSpPr>
          <p:cNvPr id="8" name="engineering 2"/>
          <p:cNvSpPr/>
          <p:nvPr/>
        </p:nvSpPr>
        <p:spPr>
          <a:xfrm>
            <a:off x="4279392" y="1463040"/>
            <a:ext cx="3529584" cy="2148840"/>
          </a:xfrm>
          <a:prstGeom prst="roundRect">
            <a:avLst>
              <a:gd name="adj" fmla="val 5106"/>
            </a:avLst>
          </a:prstGeom>
          <a:solidFill>
            <a:srgbClr val="F3F5F8"/>
          </a:solidFill>
          <a:ln w="9525">
            <a:solidFill>
              <a:srgbClr val="E4E7EC"/>
            </a:solidFill>
            <a:prstDash val="solid"/>
          </a:ln>
        </p:spPr>
      </p:sp>
      <p:sp>
        <p:nvSpPr>
          <p:cNvPr id="9" name="LuLock circle"/>
          <p:cNvSpPr/>
          <p:nvPr/>
        </p:nvSpPr>
        <p:spPr>
          <a:xfrm>
            <a:off x="4535424" y="1719072"/>
            <a:ext cx="548640" cy="548640"/>
          </a:xfrm>
          <a:prstGeom prst="ellipse">
            <a:avLst/>
          </a:prstGeom>
          <a:solidFill>
            <a:srgbClr val="F5A524"/>
          </a:solidFill>
          <a:ln/>
        </p:spPr>
      </p:sp>
      <p:pic>
        <p:nvPicPr>
          <p:cNvPr id="10" name="LuLock icon" descr="preencoded.png">    </p:cNvPr>
          <p:cNvPicPr>
            <a:picLocks noChangeAspect="1"/>
          </p:cNvPicPr>
          <p:nvPr/>
        </p:nvPicPr>
        <p:blipFill>
          <a:blip r:embed="rId2"/>
          <a:stretch>
            <a:fillRect/>
          </a:stretch>
        </p:blipFill>
        <p:spPr>
          <a:xfrm>
            <a:off x="4656125" y="1839773"/>
            <a:ext cx="307238" cy="307238"/>
          </a:xfrm>
          <a:prstGeom prst="rect">
            <a:avLst/>
          </a:prstGeom>
        </p:spPr>
      </p:pic>
      <p:sp>
        <p:nvSpPr>
          <p:cNvPr id="11" name="Text 7"/>
          <p:cNvSpPr txBox="1"/>
          <p:nvPr/>
        </p:nvSpPr>
        <p:spPr>
          <a:xfrm>
            <a:off x="5239512" y="1792224"/>
            <a:ext cx="2377440" cy="411480"/>
          </a:xfrm>
          <a:prstGeom prst="rect">
            <a:avLst/>
          </a:prstGeom>
          <a:noFill/>
          <a:ln/>
        </p:spPr>
        <p:txBody>
          <a:bodyPr wrap="square" lIns="0" tIns="0" rIns="0" bIns="0" rtlCol="0" anchor="t"/>
          <a:lstStyle/>
          <a:p>
            <a:pPr indent="0" marL="0">
              <a:buNone/>
            </a:pPr>
            <a:r>
              <a:rPr lang="en-US" sz="1800" b="1" dirty="0">
                <a:solidFill>
                  <a:schemeClr val="tx1"/>
                </a:solidFill>
              </a:rPr>
              <a:t>Login required</a:t>
            </a:r>
            <a:endParaRPr lang="en-US" sz="1800" dirty="0"/>
          </a:p>
        </p:txBody>
      </p:sp>
      <p:sp>
        <p:nvSpPr>
          <p:cNvPr id="12" name="Text 8"/>
          <p:cNvSpPr txBox="1"/>
          <p:nvPr/>
        </p:nvSpPr>
        <p:spPr>
          <a:xfrm>
            <a:off x="4535424" y="2423160"/>
            <a:ext cx="3017520" cy="1051560"/>
          </a:xfrm>
          <a:prstGeom prst="rect">
            <a:avLst/>
          </a:prstGeom>
          <a:noFill/>
          <a:ln/>
        </p:spPr>
        <p:txBody>
          <a:bodyPr wrap="square" lIns="0" tIns="0" rIns="0" bIns="0" rtlCol="0" anchor="t"/>
          <a:lstStyle/>
          <a:p>
            <a:pPr indent="0" marL="0">
              <a:buNone/>
            </a:pPr>
            <a:r>
              <a:rPr lang="en-US" sz="1400" dirty="0">
                <a:solidFill>
                  <a:schemeClr val="tx2"/>
                </a:solidFill>
              </a:rPr>
              <a:t>Every page, API call, video, photo and Excel report needs a signed-in user.</a:t>
            </a:r>
            <a:endParaRPr lang="en-US" sz="1400" dirty="0"/>
          </a:p>
        </p:txBody>
      </p:sp>
      <p:sp>
        <p:nvSpPr>
          <p:cNvPr id="13" name="engineering 3"/>
          <p:cNvSpPr/>
          <p:nvPr/>
        </p:nvSpPr>
        <p:spPr>
          <a:xfrm>
            <a:off x="8010144" y="1463040"/>
            <a:ext cx="3529584" cy="2148840"/>
          </a:xfrm>
          <a:prstGeom prst="roundRect">
            <a:avLst>
              <a:gd name="adj" fmla="val 5106"/>
            </a:avLst>
          </a:prstGeom>
          <a:solidFill>
            <a:srgbClr val="F3F5F8"/>
          </a:solidFill>
          <a:ln w="9525">
            <a:solidFill>
              <a:srgbClr val="E4E7EC"/>
            </a:solidFill>
            <a:prstDash val="solid"/>
          </a:ln>
        </p:spPr>
      </p:sp>
      <p:sp>
        <p:nvSpPr>
          <p:cNvPr id="14" name="LuDatabase circle"/>
          <p:cNvSpPr/>
          <p:nvPr/>
        </p:nvSpPr>
        <p:spPr>
          <a:xfrm>
            <a:off x="8266176" y="1719072"/>
            <a:ext cx="548640" cy="548640"/>
          </a:xfrm>
          <a:prstGeom prst="ellipse">
            <a:avLst/>
          </a:prstGeom>
          <a:solidFill>
            <a:srgbClr val="F5A524"/>
          </a:solidFill>
          <a:ln/>
        </p:spPr>
      </p:sp>
      <p:pic>
        <p:nvPicPr>
          <p:cNvPr id="15" name="LuDatabase icon" descr="preencoded.png">    </p:cNvPr>
          <p:cNvPicPr>
            <a:picLocks noChangeAspect="1"/>
          </p:cNvPicPr>
          <p:nvPr/>
        </p:nvPicPr>
        <p:blipFill>
          <a:blip r:embed="rId3"/>
          <a:stretch>
            <a:fillRect/>
          </a:stretch>
        </p:blipFill>
        <p:spPr>
          <a:xfrm>
            <a:off x="8386877" y="1839773"/>
            <a:ext cx="307238" cy="307238"/>
          </a:xfrm>
          <a:prstGeom prst="rect">
            <a:avLst/>
          </a:prstGeom>
        </p:spPr>
      </p:pic>
      <p:sp>
        <p:nvSpPr>
          <p:cNvPr id="16" name="Text 11"/>
          <p:cNvSpPr txBox="1"/>
          <p:nvPr/>
        </p:nvSpPr>
        <p:spPr>
          <a:xfrm>
            <a:off x="8970264" y="1792224"/>
            <a:ext cx="2377440" cy="411480"/>
          </a:xfrm>
          <a:prstGeom prst="rect">
            <a:avLst/>
          </a:prstGeom>
          <a:noFill/>
          <a:ln/>
        </p:spPr>
        <p:txBody>
          <a:bodyPr wrap="square" lIns="0" tIns="0" rIns="0" bIns="0" rtlCol="0" anchor="t"/>
          <a:lstStyle/>
          <a:p>
            <a:pPr indent="0" marL="0">
              <a:buNone/>
            </a:pPr>
            <a:r>
              <a:rPr lang="en-US" sz="1800" b="1" dirty="0">
                <a:solidFill>
                  <a:schemeClr val="tx1"/>
                </a:solidFill>
              </a:rPr>
              <a:t>Automatic import</a:t>
            </a:r>
            <a:endParaRPr lang="en-US" sz="1800" dirty="0"/>
          </a:p>
        </p:txBody>
      </p:sp>
      <p:sp>
        <p:nvSpPr>
          <p:cNvPr id="17" name="Text 12"/>
          <p:cNvSpPr txBox="1"/>
          <p:nvPr/>
        </p:nvSpPr>
        <p:spPr>
          <a:xfrm>
            <a:off x="8266176" y="2423160"/>
            <a:ext cx="3017520" cy="1051560"/>
          </a:xfrm>
          <a:prstGeom prst="rect">
            <a:avLst/>
          </a:prstGeom>
          <a:noFill/>
          <a:ln/>
        </p:spPr>
        <p:txBody>
          <a:bodyPr wrap="square" lIns="0" tIns="0" rIns="0" bIns="0" rtlCol="0" anchor="t"/>
          <a:lstStyle/>
          <a:p>
            <a:pPr indent="0" marL="0">
              <a:buNone/>
            </a:pPr>
            <a:r>
              <a:rPr lang="en-US" sz="1400" dirty="0">
                <a:solidFill>
                  <a:schemeClr val="tx2"/>
                </a:solidFill>
              </a:rPr>
              <a:t>Finished videos flow into the database, dashboard and ontology within about 10 seconds.</a:t>
            </a:r>
            <a:endParaRPr lang="en-US" sz="1400" dirty="0"/>
          </a:p>
        </p:txBody>
      </p:sp>
      <p:sp>
        <p:nvSpPr>
          <p:cNvPr id="18" name="engineering 4"/>
          <p:cNvSpPr/>
          <p:nvPr/>
        </p:nvSpPr>
        <p:spPr>
          <a:xfrm>
            <a:off x="548640" y="3840480"/>
            <a:ext cx="3529584" cy="2148840"/>
          </a:xfrm>
          <a:prstGeom prst="roundRect">
            <a:avLst>
              <a:gd name="adj" fmla="val 5106"/>
            </a:avLst>
          </a:prstGeom>
          <a:solidFill>
            <a:srgbClr val="F3F5F8"/>
          </a:solidFill>
          <a:ln w="9525">
            <a:solidFill>
              <a:srgbClr val="E4E7EC"/>
            </a:solidFill>
            <a:prstDash val="solid"/>
          </a:ln>
        </p:spPr>
      </p:sp>
      <p:sp>
        <p:nvSpPr>
          <p:cNvPr id="19" name="LuCopy circle"/>
          <p:cNvSpPr/>
          <p:nvPr/>
        </p:nvSpPr>
        <p:spPr>
          <a:xfrm>
            <a:off x="804672" y="4096512"/>
            <a:ext cx="548640" cy="548640"/>
          </a:xfrm>
          <a:prstGeom prst="ellipse">
            <a:avLst/>
          </a:prstGeom>
          <a:solidFill>
            <a:srgbClr val="F5A524"/>
          </a:solidFill>
          <a:ln/>
        </p:spPr>
      </p:sp>
      <p:pic>
        <p:nvPicPr>
          <p:cNvPr id="20" name="LuCopy icon" descr="preencoded.png">    </p:cNvPr>
          <p:cNvPicPr>
            <a:picLocks noChangeAspect="1"/>
          </p:cNvPicPr>
          <p:nvPr/>
        </p:nvPicPr>
        <p:blipFill>
          <a:blip r:embed="rId4"/>
          <a:stretch>
            <a:fillRect/>
          </a:stretch>
        </p:blipFill>
        <p:spPr>
          <a:xfrm>
            <a:off x="925373" y="4217213"/>
            <a:ext cx="307238" cy="307238"/>
          </a:xfrm>
          <a:prstGeom prst="rect">
            <a:avLst/>
          </a:prstGeom>
        </p:spPr>
      </p:pic>
      <p:sp>
        <p:nvSpPr>
          <p:cNvPr id="21" name="Text 15"/>
          <p:cNvSpPr txBox="1"/>
          <p:nvPr/>
        </p:nvSpPr>
        <p:spPr>
          <a:xfrm>
            <a:off x="1508760" y="4169664"/>
            <a:ext cx="2377440" cy="411480"/>
          </a:xfrm>
          <a:prstGeom prst="rect">
            <a:avLst/>
          </a:prstGeom>
          <a:noFill/>
          <a:ln/>
        </p:spPr>
        <p:txBody>
          <a:bodyPr wrap="square" lIns="0" tIns="0" rIns="0" bIns="0" rtlCol="0" anchor="t"/>
          <a:lstStyle/>
          <a:p>
            <a:pPr indent="0" marL="0">
              <a:buNone/>
            </a:pPr>
            <a:r>
              <a:rPr lang="en-US" sz="1800" b="1" dirty="0">
                <a:solidFill>
                  <a:schemeClr val="tx1"/>
                </a:solidFill>
              </a:rPr>
              <a:t>No duplicates</a:t>
            </a:r>
            <a:endParaRPr lang="en-US" sz="1800" dirty="0"/>
          </a:p>
        </p:txBody>
      </p:sp>
      <p:sp>
        <p:nvSpPr>
          <p:cNvPr id="22" name="Text 16"/>
          <p:cNvSpPr txBox="1"/>
          <p:nvPr/>
        </p:nvSpPr>
        <p:spPr>
          <a:xfrm>
            <a:off x="804672" y="4800600"/>
            <a:ext cx="3017520" cy="1051560"/>
          </a:xfrm>
          <a:prstGeom prst="rect">
            <a:avLst/>
          </a:prstGeom>
          <a:noFill/>
          <a:ln/>
        </p:spPr>
        <p:txBody>
          <a:bodyPr wrap="square" lIns="0" tIns="0" rIns="0" bIns="0" rtlCol="0" anchor="t"/>
          <a:lstStyle/>
          <a:p>
            <a:pPr indent="0" marL="0">
              <a:buNone/>
            </a:pPr>
            <a:r>
              <a:rPr lang="en-US" sz="1400" dirty="0">
                <a:solidFill>
                  <a:schemeClr val="tx2"/>
                </a:solidFill>
              </a:rPr>
              <a:t>Identical files are detected by SHA-256 hash and counted once everywhere.</a:t>
            </a:r>
            <a:endParaRPr lang="en-US" sz="1400" dirty="0"/>
          </a:p>
        </p:txBody>
      </p:sp>
      <p:sp>
        <p:nvSpPr>
          <p:cNvPr id="23" name="engineering 5"/>
          <p:cNvSpPr/>
          <p:nvPr/>
        </p:nvSpPr>
        <p:spPr>
          <a:xfrm>
            <a:off x="4279392" y="3840480"/>
            <a:ext cx="3529584" cy="2148840"/>
          </a:xfrm>
          <a:prstGeom prst="roundRect">
            <a:avLst>
              <a:gd name="adj" fmla="val 5106"/>
            </a:avLst>
          </a:prstGeom>
          <a:solidFill>
            <a:srgbClr val="F3F5F8"/>
          </a:solidFill>
          <a:ln w="9525">
            <a:solidFill>
              <a:srgbClr val="E4E7EC"/>
            </a:solidFill>
            <a:prstDash val="solid"/>
          </a:ln>
        </p:spPr>
      </p:sp>
      <p:sp>
        <p:nvSpPr>
          <p:cNvPr id="24" name="LuMonitor circle"/>
          <p:cNvSpPr/>
          <p:nvPr/>
        </p:nvSpPr>
        <p:spPr>
          <a:xfrm>
            <a:off x="4535424" y="4096512"/>
            <a:ext cx="548640" cy="548640"/>
          </a:xfrm>
          <a:prstGeom prst="ellipse">
            <a:avLst/>
          </a:prstGeom>
          <a:solidFill>
            <a:srgbClr val="F5A524"/>
          </a:solidFill>
          <a:ln/>
        </p:spPr>
      </p:sp>
      <p:pic>
        <p:nvPicPr>
          <p:cNvPr id="25" name="LuMonitor icon" descr="preencoded.png">    </p:cNvPr>
          <p:cNvPicPr>
            <a:picLocks noChangeAspect="1"/>
          </p:cNvPicPr>
          <p:nvPr/>
        </p:nvPicPr>
        <p:blipFill>
          <a:blip r:embed="rId5"/>
          <a:stretch>
            <a:fillRect/>
          </a:stretch>
        </p:blipFill>
        <p:spPr>
          <a:xfrm>
            <a:off x="4656125" y="4217213"/>
            <a:ext cx="307238" cy="307238"/>
          </a:xfrm>
          <a:prstGeom prst="rect">
            <a:avLst/>
          </a:prstGeom>
        </p:spPr>
      </p:pic>
      <p:sp>
        <p:nvSpPr>
          <p:cNvPr id="26" name="Text 19"/>
          <p:cNvSpPr txBox="1"/>
          <p:nvPr/>
        </p:nvSpPr>
        <p:spPr>
          <a:xfrm>
            <a:off x="5239512" y="4169664"/>
            <a:ext cx="2377440" cy="411480"/>
          </a:xfrm>
          <a:prstGeom prst="rect">
            <a:avLst/>
          </a:prstGeom>
          <a:noFill/>
          <a:ln/>
        </p:spPr>
        <p:txBody>
          <a:bodyPr wrap="square" lIns="0" tIns="0" rIns="0" bIns="0" rtlCol="0" anchor="t"/>
          <a:lstStyle/>
          <a:p>
            <a:pPr indent="0" marL="0">
              <a:buNone/>
            </a:pPr>
            <a:r>
              <a:rPr lang="en-US" sz="1800" b="1" dirty="0">
                <a:solidFill>
                  <a:schemeClr val="tx1"/>
                </a:solidFill>
              </a:rPr>
              <a:t>Consistent look</a:t>
            </a:r>
            <a:endParaRPr lang="en-US" sz="1800" dirty="0"/>
          </a:p>
        </p:txBody>
      </p:sp>
      <p:sp>
        <p:nvSpPr>
          <p:cNvPr id="27" name="Text 20"/>
          <p:cNvSpPr txBox="1"/>
          <p:nvPr/>
        </p:nvSpPr>
        <p:spPr>
          <a:xfrm>
            <a:off x="4535424" y="4800600"/>
            <a:ext cx="3017520" cy="1051560"/>
          </a:xfrm>
          <a:prstGeom prst="rect">
            <a:avLst/>
          </a:prstGeom>
          <a:noFill/>
          <a:ln/>
        </p:spPr>
        <p:txBody>
          <a:bodyPr wrap="square" lIns="0" tIns="0" rIns="0" bIns="0" rtlCol="0" anchor="t"/>
          <a:lstStyle/>
          <a:p>
            <a:pPr indent="0" marL="0">
              <a:buNone/>
            </a:pPr>
            <a:r>
              <a:rPr lang="en-US" sz="1400" dirty="0">
                <a:solidFill>
                  <a:schemeClr val="tx2"/>
                </a:solidFill>
              </a:rPr>
              <a:t>Bundled fonts and a fixed theme, so every computer shows the same interface.</a:t>
            </a:r>
            <a:endParaRPr lang="en-US" sz="1400" dirty="0"/>
          </a:p>
        </p:txBody>
      </p:sp>
      <p:sp>
        <p:nvSpPr>
          <p:cNvPr id="28" name="engineering 6"/>
          <p:cNvSpPr/>
          <p:nvPr/>
        </p:nvSpPr>
        <p:spPr>
          <a:xfrm>
            <a:off x="8010144" y="3840480"/>
            <a:ext cx="3529584" cy="2148840"/>
          </a:xfrm>
          <a:prstGeom prst="roundRect">
            <a:avLst>
              <a:gd name="adj" fmla="val 5106"/>
            </a:avLst>
          </a:prstGeom>
          <a:solidFill>
            <a:srgbClr val="F3F5F8"/>
          </a:solidFill>
          <a:ln w="9525">
            <a:solidFill>
              <a:srgbClr val="E4E7EC"/>
            </a:solidFill>
            <a:prstDash val="solid"/>
          </a:ln>
        </p:spPr>
      </p:sp>
      <p:sp>
        <p:nvSpPr>
          <p:cNvPr id="29" name="LuCpu circle"/>
          <p:cNvSpPr/>
          <p:nvPr/>
        </p:nvSpPr>
        <p:spPr>
          <a:xfrm>
            <a:off x="8266176" y="4096512"/>
            <a:ext cx="548640" cy="548640"/>
          </a:xfrm>
          <a:prstGeom prst="ellipse">
            <a:avLst/>
          </a:prstGeom>
          <a:solidFill>
            <a:srgbClr val="F5A524"/>
          </a:solidFill>
          <a:ln/>
        </p:spPr>
      </p:sp>
      <p:pic>
        <p:nvPicPr>
          <p:cNvPr id="30" name="LuCpu icon" descr="preencoded.png">    </p:cNvPr>
          <p:cNvPicPr>
            <a:picLocks noChangeAspect="1"/>
          </p:cNvPicPr>
          <p:nvPr/>
        </p:nvPicPr>
        <p:blipFill>
          <a:blip r:embed="rId6"/>
          <a:stretch>
            <a:fillRect/>
          </a:stretch>
        </p:blipFill>
        <p:spPr>
          <a:xfrm>
            <a:off x="8386877" y="4217213"/>
            <a:ext cx="307238" cy="307238"/>
          </a:xfrm>
          <a:prstGeom prst="rect">
            <a:avLst/>
          </a:prstGeom>
        </p:spPr>
      </p:pic>
      <p:sp>
        <p:nvSpPr>
          <p:cNvPr id="31" name="Text 23"/>
          <p:cNvSpPr txBox="1"/>
          <p:nvPr/>
        </p:nvSpPr>
        <p:spPr>
          <a:xfrm>
            <a:off x="8970264" y="4169664"/>
            <a:ext cx="2377440" cy="411480"/>
          </a:xfrm>
          <a:prstGeom prst="rect">
            <a:avLst/>
          </a:prstGeom>
          <a:noFill/>
          <a:ln/>
        </p:spPr>
        <p:txBody>
          <a:bodyPr wrap="square" lIns="0" tIns="0" rIns="0" bIns="0" rtlCol="0" anchor="t"/>
          <a:lstStyle/>
          <a:p>
            <a:pPr indent="0" marL="0">
              <a:buNone/>
            </a:pPr>
            <a:r>
              <a:rPr lang="en-US" sz="1800" b="1" dirty="0">
                <a:solidFill>
                  <a:schemeClr val="tx1"/>
                </a:solidFill>
              </a:rPr>
              <a:t>Edge ready</a:t>
            </a:r>
            <a:endParaRPr lang="en-US" sz="1800" dirty="0"/>
          </a:p>
        </p:txBody>
      </p:sp>
      <p:sp>
        <p:nvSpPr>
          <p:cNvPr id="32" name="Text 24"/>
          <p:cNvSpPr txBox="1"/>
          <p:nvPr/>
        </p:nvSpPr>
        <p:spPr>
          <a:xfrm>
            <a:off x="8266176" y="4800600"/>
            <a:ext cx="3017520" cy="1051560"/>
          </a:xfrm>
          <a:prstGeom prst="rect">
            <a:avLst/>
          </a:prstGeom>
          <a:noFill/>
          <a:ln/>
        </p:spPr>
        <p:txBody>
          <a:bodyPr wrap="square" lIns="0" tIns="0" rIns="0" bIns="0" rtlCol="0" anchor="t"/>
          <a:lstStyle/>
          <a:p>
            <a:pPr indent="0" marL="0">
              <a:buNone/>
            </a:pPr>
            <a:r>
              <a:rPr lang="en-US" sz="1400" dirty="0">
                <a:solidFill>
                  <a:schemeClr val="tx2"/>
                </a:solidFill>
              </a:rPr>
              <a:t>INT8 ONNX model (3.7 MB) for the Rubik Pi board, same accuracy.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What limits plate reading, and what does not</a:t>
            </a:r>
            <a:endParaRPr lang="en-US" sz="3200" dirty="0"/>
          </a:p>
        </p:txBody>
      </p:sp>
      <p:sp>
        <p:nvSpPr>
          <p:cNvPr id="3" name="plate stat"/>
          <p:cNvSpPr/>
          <p:nvPr/>
        </p:nvSpPr>
        <p:spPr>
          <a:xfrm>
            <a:off x="548640" y="1417320"/>
            <a:ext cx="3566160" cy="4617720"/>
          </a:xfrm>
          <a:prstGeom prst="roundRect">
            <a:avLst>
              <a:gd name="adj" fmla="val 3077"/>
            </a:avLst>
          </a:prstGeom>
          <a:solidFill>
            <a:srgbClr val="0F1623"/>
          </a:solidFill>
          <a:ln w="9525">
            <a:solidFill>
              <a:srgbClr val="E4E7EC"/>
            </a:solidFill>
            <a:prstDash val="solid"/>
          </a:ln>
        </p:spPr>
      </p:sp>
      <p:sp>
        <p:nvSpPr>
          <p:cNvPr id="4" name="Text 2"/>
          <p:cNvSpPr txBox="1"/>
          <p:nvPr/>
        </p:nvSpPr>
        <p:spPr>
          <a:xfrm>
            <a:off x="822960" y="1691640"/>
            <a:ext cx="3017520" cy="1005840"/>
          </a:xfrm>
          <a:prstGeom prst="rect">
            <a:avLst/>
          </a:prstGeom>
          <a:noFill/>
          <a:ln/>
        </p:spPr>
        <p:txBody>
          <a:bodyPr wrap="square" lIns="0" tIns="0" rIns="0" bIns="0" rtlCol="0" anchor="t"/>
          <a:lstStyle/>
          <a:p>
            <a:pPr indent="0" marL="0">
              <a:buNone/>
            </a:pPr>
            <a:r>
              <a:rPr lang="en-US" sz="6400" b="1" dirty="0">
                <a:solidFill>
                  <a:srgbClr val="F5A524"/>
                </a:solidFill>
              </a:rPr>
              <a:t>0.9%</a:t>
            </a:r>
            <a:endParaRPr lang="en-US" sz="6400" dirty="0"/>
          </a:p>
        </p:txBody>
      </p:sp>
      <p:sp>
        <p:nvSpPr>
          <p:cNvPr id="5" name="Text 3"/>
          <p:cNvSpPr txBox="1"/>
          <p:nvPr/>
        </p:nvSpPr>
        <p:spPr>
          <a:xfrm>
            <a:off x="822960" y="2697480"/>
            <a:ext cx="3017520" cy="731520"/>
          </a:xfrm>
          <a:prstGeom prst="rect">
            <a:avLst/>
          </a:prstGeom>
          <a:noFill/>
          <a:ln/>
        </p:spPr>
        <p:txBody>
          <a:bodyPr wrap="square" lIns="0" tIns="0" rIns="0" bIns="0" rtlCol="0" anchor="t"/>
          <a:lstStyle/>
          <a:p>
            <a:pPr indent="0" marL="0">
              <a:buNone/>
            </a:pPr>
            <a:r>
              <a:rPr lang="en-US" sz="1400" dirty="0">
                <a:solidFill>
                  <a:srgbClr val="FFFFFF"/>
                </a:solidFill>
              </a:rPr>
              <a:t>of tracked vehicles have a confirmed plate in the current videos</a:t>
            </a:r>
            <a:endParaRPr lang="en-US" sz="1400" dirty="0"/>
          </a:p>
        </p:txBody>
      </p:sp>
      <p:sp>
        <p:nvSpPr>
          <p:cNvPr id="6" name="Text 4"/>
          <p:cNvSpPr txBox="1"/>
          <p:nvPr/>
        </p:nvSpPr>
        <p:spPr>
          <a:xfrm>
            <a:off x="822960" y="3749040"/>
            <a:ext cx="3017520" cy="1280160"/>
          </a:xfrm>
          <a:prstGeom prst="rect">
            <a:avLst/>
          </a:prstGeom>
          <a:noFill/>
          <a:ln/>
        </p:spPr>
        <p:txBody>
          <a:bodyPr wrap="square" lIns="0" tIns="0" rIns="0" bIns="0" rtlCol="0" anchor="t"/>
          <a:lstStyle/>
          <a:p>
            <a:pPr indent="0" marL="0">
              <a:buNone/>
            </a:pPr>
            <a:r>
              <a:rPr lang="en-US" sz="2000" b="1" dirty="0">
                <a:solidFill>
                  <a:srgbClr val="FFFFFF"/>
                </a:solidFill>
              </a:rPr>
              <a:t>7 plates, 333 vehicles</a:t>
            </a:r>
            <a:endParaRPr lang="en-US" sz="1400" dirty="0"/>
          </a:p>
          <a:p>
            <a:pPr indent="0" marL="0">
              <a:buNone/>
            </a:pPr>
            <a:r>
              <a:rPr lang="en-US" sz="1300" dirty="0">
                <a:solidFill>
                  <a:srgbClr val="C3CDDB"/>
                </a:solidFill>
              </a:rPr>
              <a:t>in one Indian-plate test video</a:t>
            </a:r>
            <a:endParaRPr lang="en-US" sz="1400" dirty="0"/>
          </a:p>
        </p:txBody>
      </p:sp>
      <p:sp>
        <p:nvSpPr>
          <p:cNvPr id="7" name="LuCircleCheck circle"/>
          <p:cNvSpPr/>
          <p:nvPr/>
        </p:nvSpPr>
        <p:spPr>
          <a:xfrm>
            <a:off x="4480560" y="1463040"/>
            <a:ext cx="512064" cy="512064"/>
          </a:xfrm>
          <a:prstGeom prst="ellipse">
            <a:avLst/>
          </a:prstGeom>
          <a:solidFill>
            <a:srgbClr val="15803D"/>
          </a:solidFill>
          <a:ln/>
        </p:spPr>
      </p:sp>
      <p:pic>
        <p:nvPicPr>
          <p:cNvPr id="8" name="LuCircleCheck icon" descr="preencoded.png">    </p:cNvPr>
          <p:cNvPicPr>
            <a:picLocks noChangeAspect="1"/>
          </p:cNvPicPr>
          <p:nvPr/>
        </p:nvPicPr>
        <p:blipFill>
          <a:blip r:embed="rId1"/>
          <a:stretch>
            <a:fillRect/>
          </a:stretch>
        </p:blipFill>
        <p:spPr>
          <a:xfrm>
            <a:off x="4593214" y="1575694"/>
            <a:ext cx="286756" cy="286756"/>
          </a:xfrm>
          <a:prstGeom prst="rect">
            <a:avLst/>
          </a:prstGeom>
        </p:spPr>
      </p:pic>
      <p:sp>
        <p:nvSpPr>
          <p:cNvPr id="9" name="Text 6"/>
          <p:cNvSpPr txBox="1"/>
          <p:nvPr/>
        </p:nvSpPr>
        <p:spPr>
          <a:xfrm>
            <a:off x="5166360" y="1444752"/>
            <a:ext cx="6400800" cy="384048"/>
          </a:xfrm>
          <a:prstGeom prst="rect">
            <a:avLst/>
          </a:prstGeom>
          <a:noFill/>
          <a:ln/>
        </p:spPr>
        <p:txBody>
          <a:bodyPr wrap="square" lIns="0" tIns="0" rIns="0" bIns="0" rtlCol="0" anchor="t"/>
          <a:lstStyle/>
          <a:p>
            <a:pPr indent="0" marL="0">
              <a:buNone/>
            </a:pPr>
            <a:r>
              <a:rPr lang="en-US" sz="1700" b="1" dirty="0">
                <a:solidFill>
                  <a:schemeClr val="tx1"/>
                </a:solidFill>
              </a:rPr>
              <a:t>Reading is accurate</a:t>
            </a:r>
            <a:endParaRPr lang="en-US" sz="1700" dirty="0"/>
          </a:p>
        </p:txBody>
      </p:sp>
      <p:sp>
        <p:nvSpPr>
          <p:cNvPr id="10" name="Text 7"/>
          <p:cNvSpPr txBox="1"/>
          <p:nvPr/>
        </p:nvSpPr>
        <p:spPr>
          <a:xfrm>
            <a:off x="5166360" y="1847088"/>
            <a:ext cx="6400800" cy="640080"/>
          </a:xfrm>
          <a:prstGeom prst="rect">
            <a:avLst/>
          </a:prstGeom>
          <a:noFill/>
          <a:ln/>
        </p:spPr>
        <p:txBody>
          <a:bodyPr wrap="square" lIns="0" tIns="0" rIns="0" bIns="0" rtlCol="0" anchor="t"/>
          <a:lstStyle/>
          <a:p>
            <a:pPr indent="0" marL="0">
              <a:buNone/>
            </a:pPr>
            <a:r>
              <a:rPr lang="en-US" sz="1400" dirty="0">
                <a:solidFill>
                  <a:schemeClr val="tx2"/>
                </a:solidFill>
              </a:rPr>
              <a:t>When a plate is detected, OCR and the Indian-format check confirm nearly every real plate.</a:t>
            </a:r>
            <a:endParaRPr lang="en-US" sz="1400" dirty="0"/>
          </a:p>
        </p:txBody>
      </p:sp>
      <p:sp>
        <p:nvSpPr>
          <p:cNvPr id="11" name="LuTarget circle"/>
          <p:cNvSpPr/>
          <p:nvPr/>
        </p:nvSpPr>
        <p:spPr>
          <a:xfrm>
            <a:off x="4480560" y="2624328"/>
            <a:ext cx="512064" cy="512064"/>
          </a:xfrm>
          <a:prstGeom prst="ellipse">
            <a:avLst/>
          </a:prstGeom>
          <a:solidFill>
            <a:srgbClr val="C2312B"/>
          </a:solidFill>
          <a:ln/>
        </p:spPr>
      </p:sp>
      <p:pic>
        <p:nvPicPr>
          <p:cNvPr id="12" name="LuTarget icon" descr="preencoded.png">    </p:cNvPr>
          <p:cNvPicPr>
            <a:picLocks noChangeAspect="1"/>
          </p:cNvPicPr>
          <p:nvPr/>
        </p:nvPicPr>
        <p:blipFill>
          <a:blip r:embed="rId2"/>
          <a:stretch>
            <a:fillRect/>
          </a:stretch>
        </p:blipFill>
        <p:spPr>
          <a:xfrm>
            <a:off x="4593214" y="2736982"/>
            <a:ext cx="286756" cy="286756"/>
          </a:xfrm>
          <a:prstGeom prst="rect">
            <a:avLst/>
          </a:prstGeom>
        </p:spPr>
      </p:pic>
      <p:sp>
        <p:nvSpPr>
          <p:cNvPr id="13" name="Text 9"/>
          <p:cNvSpPr txBox="1"/>
          <p:nvPr/>
        </p:nvSpPr>
        <p:spPr>
          <a:xfrm>
            <a:off x="5166360" y="2606040"/>
            <a:ext cx="6400800" cy="384048"/>
          </a:xfrm>
          <a:prstGeom prst="rect">
            <a:avLst/>
          </a:prstGeom>
          <a:noFill/>
          <a:ln/>
        </p:spPr>
        <p:txBody>
          <a:bodyPr wrap="square" lIns="0" tIns="0" rIns="0" bIns="0" rtlCol="0" anchor="t"/>
          <a:lstStyle/>
          <a:p>
            <a:pPr indent="0" marL="0">
              <a:buNone/>
            </a:pPr>
            <a:r>
              <a:rPr lang="en-US" sz="1700" b="1" dirty="0">
                <a:solidFill>
                  <a:schemeClr val="tx1"/>
                </a:solidFill>
              </a:rPr>
              <a:t>Detection is the limit</a:t>
            </a:r>
            <a:endParaRPr lang="en-US" sz="1700" dirty="0"/>
          </a:p>
        </p:txBody>
      </p:sp>
      <p:sp>
        <p:nvSpPr>
          <p:cNvPr id="14" name="Text 10"/>
          <p:cNvSpPr txBox="1"/>
          <p:nvPr/>
        </p:nvSpPr>
        <p:spPr>
          <a:xfrm>
            <a:off x="5166360" y="3008376"/>
            <a:ext cx="6400800" cy="640080"/>
          </a:xfrm>
          <a:prstGeom prst="rect">
            <a:avLst/>
          </a:prstGeom>
          <a:noFill/>
          <a:ln/>
        </p:spPr>
        <p:txBody>
          <a:bodyPr wrap="square" lIns="0" tIns="0" rIns="0" bIns="0" rtlCol="0" anchor="t"/>
          <a:lstStyle/>
          <a:p>
            <a:pPr indent="0" marL="0">
              <a:buNone/>
            </a:pPr>
            <a:r>
              <a:rPr lang="en-US" sz="1400" dirty="0">
                <a:solidFill>
                  <a:schemeClr val="tx2"/>
                </a:solidFill>
              </a:rPr>
              <a:t>Most vehicles never show a detectable plate: too far, at an angle, or too small in the frame.</a:t>
            </a:r>
            <a:endParaRPr lang="en-US" sz="1400" dirty="0"/>
          </a:p>
        </p:txBody>
      </p:sp>
      <p:sp>
        <p:nvSpPr>
          <p:cNvPr id="15" name="LuShieldCheck circle"/>
          <p:cNvSpPr/>
          <p:nvPr/>
        </p:nvSpPr>
        <p:spPr>
          <a:xfrm>
            <a:off x="4480560" y="3785616"/>
            <a:ext cx="512064" cy="512064"/>
          </a:xfrm>
          <a:prstGeom prst="ellipse">
            <a:avLst/>
          </a:prstGeom>
          <a:solidFill>
            <a:srgbClr val="2A78D6"/>
          </a:solidFill>
          <a:ln/>
        </p:spPr>
      </p:sp>
      <p:pic>
        <p:nvPicPr>
          <p:cNvPr id="16" name="LuShieldCheck icon" descr="preencoded.png">    </p:cNvPr>
          <p:cNvPicPr>
            <a:picLocks noChangeAspect="1"/>
          </p:cNvPicPr>
          <p:nvPr/>
        </p:nvPicPr>
        <p:blipFill>
          <a:blip r:embed="rId3"/>
          <a:stretch>
            <a:fillRect/>
          </a:stretch>
        </p:blipFill>
        <p:spPr>
          <a:xfrm>
            <a:off x="4593214" y="3898270"/>
            <a:ext cx="286756" cy="286756"/>
          </a:xfrm>
          <a:prstGeom prst="rect">
            <a:avLst/>
          </a:prstGeom>
        </p:spPr>
      </p:pic>
      <p:sp>
        <p:nvSpPr>
          <p:cNvPr id="17" name="Text 12"/>
          <p:cNvSpPr txBox="1"/>
          <p:nvPr/>
        </p:nvSpPr>
        <p:spPr>
          <a:xfrm>
            <a:off x="5166360" y="3767328"/>
            <a:ext cx="6400800" cy="384048"/>
          </a:xfrm>
          <a:prstGeom prst="rect">
            <a:avLst/>
          </a:prstGeom>
          <a:noFill/>
          <a:ln/>
        </p:spPr>
        <p:txBody>
          <a:bodyPr wrap="square" lIns="0" tIns="0" rIns="0" bIns="0" rtlCol="0" anchor="t"/>
          <a:lstStyle/>
          <a:p>
            <a:pPr indent="0" marL="0">
              <a:buNone/>
            </a:pPr>
            <a:r>
              <a:rPr lang="en-US" sz="1700" b="1" dirty="0">
                <a:solidFill>
                  <a:schemeClr val="tx1"/>
                </a:solidFill>
              </a:rPr>
              <a:t>Loosening rules adds errors</a:t>
            </a:r>
            <a:endParaRPr lang="en-US" sz="1700" dirty="0"/>
          </a:p>
        </p:txBody>
      </p:sp>
      <p:sp>
        <p:nvSpPr>
          <p:cNvPr id="18" name="Text 13"/>
          <p:cNvSpPr txBox="1"/>
          <p:nvPr/>
        </p:nvSpPr>
        <p:spPr>
          <a:xfrm>
            <a:off x="5166360" y="4169664"/>
            <a:ext cx="6400800" cy="640080"/>
          </a:xfrm>
          <a:prstGeom prst="rect">
            <a:avLst/>
          </a:prstGeom>
          <a:noFill/>
          <a:ln/>
        </p:spPr>
        <p:txBody>
          <a:bodyPr wrap="square" lIns="0" tIns="0" rIns="0" bIns="0" rtlCol="0" anchor="t"/>
          <a:lstStyle/>
          <a:p>
            <a:pPr indent="0" marL="0">
              <a:buNone/>
            </a:pPr>
            <a:r>
              <a:rPr lang="en-US" sz="1400" dirty="0">
                <a:solidFill>
                  <a:schemeClr val="tx2"/>
                </a:solidFill>
              </a:rPr>
              <a:t>Fewer votes, lower confidence or a larger image size added misreads, not new plates.</a:t>
            </a:r>
            <a:endParaRPr lang="en-US" sz="1400" dirty="0"/>
          </a:p>
        </p:txBody>
      </p:sp>
      <p:sp>
        <p:nvSpPr>
          <p:cNvPr id="19" name="LuLightbulb circle"/>
          <p:cNvSpPr/>
          <p:nvPr/>
        </p:nvSpPr>
        <p:spPr>
          <a:xfrm>
            <a:off x="4480560" y="4946904"/>
            <a:ext cx="512064" cy="512064"/>
          </a:xfrm>
          <a:prstGeom prst="ellipse">
            <a:avLst/>
          </a:prstGeom>
          <a:solidFill>
            <a:srgbClr val="F5A524"/>
          </a:solidFill>
          <a:ln/>
        </p:spPr>
      </p:sp>
      <p:pic>
        <p:nvPicPr>
          <p:cNvPr id="20" name="LuLightbulb icon" descr="preencoded.png">    </p:cNvPr>
          <p:cNvPicPr>
            <a:picLocks noChangeAspect="1"/>
          </p:cNvPicPr>
          <p:nvPr/>
        </p:nvPicPr>
        <p:blipFill>
          <a:blip r:embed="rId4"/>
          <a:stretch>
            <a:fillRect/>
          </a:stretch>
        </p:blipFill>
        <p:spPr>
          <a:xfrm>
            <a:off x="4593214" y="5059558"/>
            <a:ext cx="286756" cy="286756"/>
          </a:xfrm>
          <a:prstGeom prst="rect">
            <a:avLst/>
          </a:prstGeom>
        </p:spPr>
      </p:pic>
      <p:sp>
        <p:nvSpPr>
          <p:cNvPr id="21" name="Text 15"/>
          <p:cNvSpPr txBox="1"/>
          <p:nvPr/>
        </p:nvSpPr>
        <p:spPr>
          <a:xfrm>
            <a:off x="5166360" y="4928616"/>
            <a:ext cx="6400800" cy="384048"/>
          </a:xfrm>
          <a:prstGeom prst="rect">
            <a:avLst/>
          </a:prstGeom>
          <a:noFill/>
          <a:ln/>
        </p:spPr>
        <p:txBody>
          <a:bodyPr wrap="square" lIns="0" tIns="0" rIns="0" bIns="0" rtlCol="0" anchor="t"/>
          <a:lstStyle/>
          <a:p>
            <a:pPr indent="0" marL="0">
              <a:buNone/>
            </a:pPr>
            <a:r>
              <a:rPr lang="en-US" sz="1700" b="1" dirty="0">
                <a:solidFill>
                  <a:schemeClr val="tx1"/>
                </a:solidFill>
              </a:rPr>
              <a:t>Fix at the source</a:t>
            </a:r>
            <a:endParaRPr lang="en-US" sz="1700" dirty="0"/>
          </a:p>
        </p:txBody>
      </p:sp>
      <p:sp>
        <p:nvSpPr>
          <p:cNvPr id="22" name="Text 16"/>
          <p:cNvSpPr txBox="1"/>
          <p:nvPr/>
        </p:nvSpPr>
        <p:spPr>
          <a:xfrm>
            <a:off x="5166360" y="5330952"/>
            <a:ext cx="6400800" cy="640080"/>
          </a:xfrm>
          <a:prstGeom prst="rect">
            <a:avLst/>
          </a:prstGeom>
          <a:noFill/>
          <a:ln/>
        </p:spPr>
        <p:txBody>
          <a:bodyPr wrap="square" lIns="0" tIns="0" rIns="0" bIns="0" rtlCol="0" anchor="t"/>
          <a:lstStyle/>
          <a:p>
            <a:pPr indent="0" marL="0">
              <a:buNone/>
            </a:pPr>
            <a:r>
              <a:rPr lang="en-US" sz="1400" dirty="0">
                <a:solidFill>
                  <a:schemeClr val="tx2"/>
                </a:solidFill>
              </a:rPr>
              <a:t>Closer or overhead NH5 cameras, higher resolution, and more plate training data.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Known limitations and next steps</a:t>
            </a:r>
            <a:endParaRPr lang="en-US" sz="3200" dirty="0"/>
          </a:p>
        </p:txBody>
      </p:sp>
      <p:sp>
        <p:nvSpPr>
          <p:cNvPr id="3" name="limitations"/>
          <p:cNvSpPr/>
          <p:nvPr/>
        </p:nvSpPr>
        <p:spPr>
          <a:xfrm>
            <a:off x="548640" y="1417320"/>
            <a:ext cx="5440680" cy="4617720"/>
          </a:xfrm>
          <a:prstGeom prst="roundRect">
            <a:avLst>
              <a:gd name="adj" fmla="val 2376"/>
            </a:avLst>
          </a:prstGeom>
          <a:solidFill>
            <a:srgbClr val="F3F5F8"/>
          </a:solidFill>
          <a:ln w="9525">
            <a:solidFill>
              <a:srgbClr val="E4E7EC"/>
            </a:solidFill>
            <a:prstDash val="solid"/>
          </a:ln>
        </p:spPr>
      </p:sp>
      <p:sp>
        <p:nvSpPr>
          <p:cNvPr id="4" name="next steps"/>
          <p:cNvSpPr/>
          <p:nvPr/>
        </p:nvSpPr>
        <p:spPr>
          <a:xfrm>
            <a:off x="6172200" y="1417320"/>
            <a:ext cx="5440680" cy="4617720"/>
          </a:xfrm>
          <a:prstGeom prst="roundRect">
            <a:avLst>
              <a:gd name="adj" fmla="val 2376"/>
            </a:avLst>
          </a:prstGeom>
          <a:solidFill>
            <a:srgbClr val="FDF3E1"/>
          </a:solidFill>
          <a:ln w="9525">
            <a:solidFill>
              <a:srgbClr val="E4E7EC"/>
            </a:solidFill>
            <a:prstDash val="solid"/>
          </a:ln>
        </p:spPr>
      </p:sp>
      <p:sp>
        <p:nvSpPr>
          <p:cNvPr id="5" name="LuTriangleAlert circle"/>
          <p:cNvSpPr/>
          <p:nvPr/>
        </p:nvSpPr>
        <p:spPr>
          <a:xfrm>
            <a:off x="822960" y="1645920"/>
            <a:ext cx="457200" cy="457200"/>
          </a:xfrm>
          <a:prstGeom prst="ellipse">
            <a:avLst/>
          </a:prstGeom>
          <a:solidFill>
            <a:srgbClr val="C2312B"/>
          </a:solidFill>
          <a:ln/>
        </p:spPr>
      </p:sp>
      <p:pic>
        <p:nvPicPr>
          <p:cNvPr id="6" name="LuTriangleAlert icon" descr="preencoded.png">    </p:cNvPr>
          <p:cNvPicPr>
            <a:picLocks noChangeAspect="1"/>
          </p:cNvPicPr>
          <p:nvPr/>
        </p:nvPicPr>
        <p:blipFill>
          <a:blip r:embed="rId1"/>
          <a:stretch>
            <a:fillRect/>
          </a:stretch>
        </p:blipFill>
        <p:spPr>
          <a:xfrm>
            <a:off x="923544" y="1746504"/>
            <a:ext cx="256032" cy="256032"/>
          </a:xfrm>
          <a:prstGeom prst="rect">
            <a:avLst/>
          </a:prstGeom>
        </p:spPr>
      </p:pic>
      <p:sp>
        <p:nvSpPr>
          <p:cNvPr id="7" name="Text 4"/>
          <p:cNvSpPr txBox="1"/>
          <p:nvPr/>
        </p:nvSpPr>
        <p:spPr>
          <a:xfrm>
            <a:off x="1417320" y="1664208"/>
            <a:ext cx="4389120" cy="411480"/>
          </a:xfrm>
          <a:prstGeom prst="rect">
            <a:avLst/>
          </a:prstGeom>
          <a:noFill/>
          <a:ln/>
        </p:spPr>
        <p:txBody>
          <a:bodyPr wrap="square" lIns="0" tIns="0" rIns="0" bIns="0" rtlCol="0" anchor="t"/>
          <a:lstStyle/>
          <a:p>
            <a:pPr indent="0" marL="0">
              <a:buNone/>
            </a:pPr>
            <a:r>
              <a:rPr lang="en-US" sz="1900" b="1" dirty="0">
                <a:solidFill>
                  <a:schemeClr val="tx1"/>
                </a:solidFill>
              </a:rPr>
              <a:t>Limitations today</a:t>
            </a:r>
            <a:endParaRPr lang="en-US" sz="1900" dirty="0"/>
          </a:p>
        </p:txBody>
      </p:sp>
      <p:sp>
        <p:nvSpPr>
          <p:cNvPr id="8" name="LuRoute circle"/>
          <p:cNvSpPr/>
          <p:nvPr/>
        </p:nvSpPr>
        <p:spPr>
          <a:xfrm>
            <a:off x="6446520" y="1645920"/>
            <a:ext cx="457200" cy="457200"/>
          </a:xfrm>
          <a:prstGeom prst="ellipse">
            <a:avLst/>
          </a:prstGeom>
          <a:solidFill>
            <a:srgbClr val="0F1623"/>
          </a:solidFill>
          <a:ln/>
        </p:spPr>
      </p:sp>
      <p:pic>
        <p:nvPicPr>
          <p:cNvPr id="9" name="LuRoute icon" descr="preencoded.png">    </p:cNvPr>
          <p:cNvPicPr>
            <a:picLocks noChangeAspect="1"/>
          </p:cNvPicPr>
          <p:nvPr/>
        </p:nvPicPr>
        <p:blipFill>
          <a:blip r:embed="rId2"/>
          <a:stretch>
            <a:fillRect/>
          </a:stretch>
        </p:blipFill>
        <p:spPr>
          <a:xfrm>
            <a:off x="6547104" y="1746504"/>
            <a:ext cx="256032" cy="256032"/>
          </a:xfrm>
          <a:prstGeom prst="rect">
            <a:avLst/>
          </a:prstGeom>
        </p:spPr>
      </p:pic>
      <p:sp>
        <p:nvSpPr>
          <p:cNvPr id="10" name="Text 6"/>
          <p:cNvSpPr txBox="1"/>
          <p:nvPr/>
        </p:nvSpPr>
        <p:spPr>
          <a:xfrm>
            <a:off x="7040880" y="1664208"/>
            <a:ext cx="4389120" cy="411480"/>
          </a:xfrm>
          <a:prstGeom prst="rect">
            <a:avLst/>
          </a:prstGeom>
          <a:noFill/>
          <a:ln/>
        </p:spPr>
        <p:txBody>
          <a:bodyPr wrap="square" lIns="0" tIns="0" rIns="0" bIns="0" rtlCol="0" anchor="t"/>
          <a:lstStyle/>
          <a:p>
            <a:pPr indent="0" marL="0">
              <a:buNone/>
            </a:pPr>
            <a:r>
              <a:rPr lang="en-US" sz="1900" b="1" dirty="0">
                <a:solidFill>
                  <a:schemeClr val="tx1"/>
                </a:solidFill>
              </a:rPr>
              <a:t>Next steps</a:t>
            </a:r>
            <a:endParaRPr lang="en-US" sz="1900" dirty="0"/>
          </a:p>
        </p:txBody>
      </p:sp>
      <p:sp>
        <p:nvSpPr>
          <p:cNvPr id="11" name="Text 7"/>
          <p:cNvSpPr txBox="1"/>
          <p:nvPr/>
        </p:nvSpPr>
        <p:spPr>
          <a:xfrm>
            <a:off x="822960" y="2331720"/>
            <a:ext cx="493776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Potholes: about half are missed (mAP50 0.56)</a:t>
            </a:r>
            <a:endParaRPr lang="en-US" sz="1500" dirty="0"/>
          </a:p>
          <a:p>
            <a:pPr marL="342900" indent="-342900">
              <a:spcAft>
                <a:spcPts val="800"/>
              </a:spcAft>
              <a:buSzPct val="100000"/>
              <a:buChar char="•"/>
            </a:pPr>
            <a:r>
              <a:rPr lang="en-US" sz="1500" dirty="0">
                <a:solidFill>
                  <a:schemeClr val="tx1"/>
                </a:solidFill>
              </a:rPr>
              <a:t>Road construction: false detections on bollards and lone signs</a:t>
            </a:r>
            <a:endParaRPr lang="en-US" sz="1500" dirty="0"/>
          </a:p>
          <a:p>
            <a:pPr marL="342900" indent="-342900">
              <a:spcAft>
                <a:spcPts val="800"/>
              </a:spcAft>
              <a:buSzPct val="100000"/>
              <a:buChar char="•"/>
            </a:pPr>
            <a:r>
              <a:rPr lang="en-US" sz="1500" dirty="0">
                <a:solidFill>
                  <a:schemeClr val="tx1"/>
                </a:solidFill>
              </a:rPr>
              <a:t>Few plates from high or overhead cameras</a:t>
            </a:r>
            <a:endParaRPr lang="en-US" sz="1500" dirty="0"/>
          </a:p>
          <a:p>
            <a:pPr marL="342900" indent="-342900">
              <a:spcAft>
                <a:spcPts val="800"/>
              </a:spcAft>
              <a:buSzPct val="100000"/>
              <a:buChar char="•"/>
            </a:pPr>
            <a:r>
              <a:rPr lang="en-US" sz="1500" dirty="0">
                <a:solidFill>
                  <a:schemeClr val="tx1"/>
                </a:solidFill>
              </a:rPr>
              <a:t>Smoke-only fires and wreck photos not always recognised</a:t>
            </a:r>
            <a:endParaRPr lang="en-US" sz="1500" dirty="0"/>
          </a:p>
          <a:p>
            <a:pPr marL="342900" indent="-342900">
              <a:spcAft>
                <a:spcPts val="800"/>
              </a:spcAft>
              <a:buSzPct val="100000"/>
              <a:buChar char="•"/>
            </a:pPr>
            <a:r>
              <a:rPr lang="en-US" sz="1500" dirty="0">
                <a:solidFill>
                  <a:schemeClr val="tx1"/>
                </a:solidFill>
              </a:rPr>
              <a:t>Some CCTV accidents flagged 1 to 3 seconds early</a:t>
            </a:r>
            <a:endParaRPr lang="en-US" sz="1500" dirty="0"/>
          </a:p>
        </p:txBody>
      </p:sp>
      <p:sp>
        <p:nvSpPr>
          <p:cNvPr id="12" name="Text 8"/>
          <p:cNvSpPr txBox="1"/>
          <p:nvPr/>
        </p:nvSpPr>
        <p:spPr>
          <a:xfrm>
            <a:off x="6446520" y="2331720"/>
            <a:ext cx="493776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Train road construction as a separate model</a:t>
            </a:r>
            <a:endParaRPr lang="en-US" sz="1500" dirty="0"/>
          </a:p>
          <a:p>
            <a:pPr marL="342900" indent="-342900">
              <a:spcAft>
                <a:spcPts val="800"/>
              </a:spcAft>
              <a:buSzPct val="100000"/>
              <a:buChar char="•"/>
            </a:pPr>
            <a:r>
              <a:rPr lang="en-US" sz="1500" dirty="0">
                <a:solidFill>
                  <a:schemeClr val="tx1"/>
                </a:solidFill>
              </a:rPr>
              <a:t>Relabel potholes and CCTV accidents; add more data</a:t>
            </a:r>
            <a:endParaRPr lang="en-US" sz="1500" dirty="0"/>
          </a:p>
          <a:p>
            <a:pPr marL="342900" indent="-342900">
              <a:spcAft>
                <a:spcPts val="800"/>
              </a:spcAft>
              <a:buSzPct val="100000"/>
              <a:buChar char="•"/>
            </a:pPr>
            <a:r>
              <a:rPr lang="en-US" sz="1500" dirty="0">
                <a:solidFill>
                  <a:schemeClr val="tx1"/>
                </a:solidFill>
              </a:rPr>
              <a:t>Collect real NH5 camera footage, including night and overhead views</a:t>
            </a:r>
            <a:endParaRPr lang="en-US" sz="1500" dirty="0"/>
          </a:p>
          <a:p>
            <a:pPr marL="342900" indent="-342900">
              <a:spcAft>
                <a:spcPts val="800"/>
              </a:spcAft>
              <a:buSzPct val="100000"/>
              <a:buChar char="•"/>
            </a:pPr>
            <a:r>
              <a:rPr lang="en-US" sz="1500" dirty="0">
                <a:solidFill>
                  <a:schemeClr val="tx1"/>
                </a:solidFill>
              </a:rPr>
              <a:t>Fix camera positions, then enable lane-change and wrong-side rules</a:t>
            </a:r>
            <a:endParaRPr lang="en-US" sz="1500" dirty="0"/>
          </a:p>
          <a:p>
            <a:pPr marL="342900" indent="-342900">
              <a:spcAft>
                <a:spcPts val="800"/>
              </a:spcAft>
              <a:buSzPct val="100000"/>
              <a:buChar char="•"/>
            </a:pPr>
            <a:r>
              <a:rPr lang="en-US" sz="1500" dirty="0">
                <a:solidFill>
                  <a:schemeClr val="tx1"/>
                </a:solidFill>
              </a:rPr>
              <a:t>Deploy the INT8 model on the Rubik Pi board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737360"/>
          </a:xfrm>
          <a:prstGeom prst="rect">
            <a:avLst/>
          </a:prstGeom>
          <a:noFill/>
          <a:ln/>
        </p:spPr>
        <p:txBody>
          <a:bodyPr wrap="square" lIns="0" tIns="0" rIns="0" bIns="0" rtlCol="0" anchor="b"/>
          <a:lstStyle/>
          <a:p>
            <a:pPr algn="l" indent="0" marL="0">
              <a:buNone/>
            </a:pPr>
            <a:r>
              <a:rPr lang="en-US" sz="4400" b="1" dirty="0">
                <a:solidFill>
                  <a:schemeClr val="bg1"/>
                </a:solidFill>
              </a:rPr>
              <a:t>Summary</a:t>
            </a:r>
            <a:endParaRPr lang="en-US" sz="4400" dirty="0"/>
          </a:p>
        </p:txBody>
      </p:sp>
      <p:sp>
        <p:nvSpPr>
          <p:cNvPr id="3" name="Text 0"/>
          <p:cNvSpPr/>
          <p:nvPr>
            <p:ph idx="101" type="body" hasCustomPrompt="1"/>
          </p:nvPr>
        </p:nvSpPr>
        <p:spPr>
          <a:xfrm>
            <a:off x="640080" y="3886200"/>
            <a:ext cx="5852160" cy="1005840"/>
          </a:xfrm>
          <a:prstGeom prst="rect">
            <a:avLst/>
          </a:prstGeom>
          <a:noFill/>
          <a:ln/>
        </p:spPr>
        <p:txBody>
          <a:bodyPr wrap="square" lIns="0" tIns="0" rIns="0" bIns="0" rtlCol="0" anchor="t"/>
          <a:lstStyle/>
          <a:p>
            <a:pPr algn="l" indent="0" marL="0">
              <a:buNone/>
            </a:pPr>
            <a:r>
              <a:rPr lang="en-US" sz="1800" dirty="0">
                <a:solidFill>
                  <a:schemeClr val="bg2"/>
                </a:solidFill>
              </a:rPr>
              <a:t>A working platform that turns highway video into counted vehicles, verified plates, alerts and linked reports</a:t>
            </a:r>
            <a:endParaRPr lang="en-US" sz="1800" dirty="0"/>
          </a:p>
        </p:txBody>
      </p:sp>
      <p:sp>
        <p:nvSpPr>
          <p:cNvPr id="4" name="summary 1"/>
          <p:cNvSpPr/>
          <p:nvPr/>
        </p:nvSpPr>
        <p:spPr>
          <a:xfrm>
            <a:off x="7315200" y="1325880"/>
            <a:ext cx="4297680" cy="932688"/>
          </a:xfrm>
          <a:prstGeom prst="roundRect">
            <a:avLst>
              <a:gd name="adj" fmla="val 9804"/>
            </a:avLst>
          </a:prstGeom>
          <a:solidFill>
            <a:srgbClr val="1E2B42"/>
          </a:solidFill>
          <a:ln/>
        </p:spPr>
      </p:sp>
      <p:sp>
        <p:nvSpPr>
          <p:cNvPr id="5" name="Text 3"/>
          <p:cNvSpPr txBox="1"/>
          <p:nvPr/>
        </p:nvSpPr>
        <p:spPr>
          <a:xfrm>
            <a:off x="7543800" y="1435608"/>
            <a:ext cx="1737360" cy="713232"/>
          </a:xfrm>
          <a:prstGeom prst="rect">
            <a:avLst/>
          </a:prstGeom>
          <a:noFill/>
          <a:ln/>
        </p:spPr>
        <p:txBody>
          <a:bodyPr wrap="square" lIns="0" tIns="0" rIns="0" bIns="0" rtlCol="0" anchor="ctr"/>
          <a:lstStyle/>
          <a:p>
            <a:pPr indent="0" marL="0">
              <a:buNone/>
            </a:pPr>
            <a:r>
              <a:rPr lang="en-US" sz="3000" b="1" dirty="0">
                <a:solidFill>
                  <a:srgbClr val="F5A524"/>
                </a:solidFill>
              </a:rPr>
              <a:t>0.805</a:t>
            </a:r>
            <a:endParaRPr lang="en-US" sz="3000" dirty="0"/>
          </a:p>
        </p:txBody>
      </p:sp>
      <p:sp>
        <p:nvSpPr>
          <p:cNvPr id="6" name="Text 4"/>
          <p:cNvSpPr txBox="1"/>
          <p:nvPr/>
        </p:nvSpPr>
        <p:spPr>
          <a:xfrm>
            <a:off x="9281160" y="1435608"/>
            <a:ext cx="2194560" cy="713232"/>
          </a:xfrm>
          <a:prstGeom prst="rect">
            <a:avLst/>
          </a:prstGeom>
          <a:noFill/>
          <a:ln/>
        </p:spPr>
        <p:txBody>
          <a:bodyPr wrap="square" lIns="0" tIns="0" rIns="0" bIns="0" rtlCol="0" anchor="ctr"/>
          <a:lstStyle/>
          <a:p>
            <a:pPr indent="0" marL="0">
              <a:buNone/>
            </a:pPr>
            <a:r>
              <a:rPr lang="en-US" sz="1400" dirty="0">
                <a:solidFill>
                  <a:srgbClr val="FFFFFF"/>
                </a:solidFill>
              </a:rPr>
              <a:t>mAP50, above the 0.75 target</a:t>
            </a:r>
            <a:endParaRPr lang="en-US" sz="1400" dirty="0"/>
          </a:p>
        </p:txBody>
      </p:sp>
      <p:sp>
        <p:nvSpPr>
          <p:cNvPr id="7" name="summary 2"/>
          <p:cNvSpPr/>
          <p:nvPr/>
        </p:nvSpPr>
        <p:spPr>
          <a:xfrm>
            <a:off x="7315200" y="2441448"/>
            <a:ext cx="4297680" cy="932688"/>
          </a:xfrm>
          <a:prstGeom prst="roundRect">
            <a:avLst>
              <a:gd name="adj" fmla="val 9804"/>
            </a:avLst>
          </a:prstGeom>
          <a:solidFill>
            <a:srgbClr val="1E2B42"/>
          </a:solidFill>
          <a:ln/>
        </p:spPr>
      </p:sp>
      <p:sp>
        <p:nvSpPr>
          <p:cNvPr id="8" name="Text 6"/>
          <p:cNvSpPr txBox="1"/>
          <p:nvPr/>
        </p:nvSpPr>
        <p:spPr>
          <a:xfrm>
            <a:off x="7543800" y="2551176"/>
            <a:ext cx="1737360" cy="713232"/>
          </a:xfrm>
          <a:prstGeom prst="rect">
            <a:avLst/>
          </a:prstGeom>
          <a:noFill/>
          <a:ln/>
        </p:spPr>
        <p:txBody>
          <a:bodyPr wrap="square" lIns="0" tIns="0" rIns="0" bIns="0" rtlCol="0" anchor="ctr"/>
          <a:lstStyle/>
          <a:p>
            <a:pPr indent="0" marL="0">
              <a:buNone/>
            </a:pPr>
            <a:r>
              <a:rPr lang="en-US" sz="3000" b="1" dirty="0">
                <a:solidFill>
                  <a:srgbClr val="F5A524"/>
                </a:solidFill>
              </a:rPr>
              <a:t>12</a:t>
            </a:r>
            <a:endParaRPr lang="en-US" sz="3000" dirty="0"/>
          </a:p>
        </p:txBody>
      </p:sp>
      <p:sp>
        <p:nvSpPr>
          <p:cNvPr id="9" name="Text 7"/>
          <p:cNvSpPr txBox="1"/>
          <p:nvPr/>
        </p:nvSpPr>
        <p:spPr>
          <a:xfrm>
            <a:off x="9281160" y="2551176"/>
            <a:ext cx="2194560" cy="713232"/>
          </a:xfrm>
          <a:prstGeom prst="rect">
            <a:avLst/>
          </a:prstGeom>
          <a:noFill/>
          <a:ln/>
        </p:spPr>
        <p:txBody>
          <a:bodyPr wrap="square" lIns="0" tIns="0" rIns="0" bIns="0" rtlCol="0" anchor="ctr"/>
          <a:lstStyle/>
          <a:p>
            <a:pPr indent="0" marL="0">
              <a:buNone/>
            </a:pPr>
            <a:r>
              <a:rPr lang="en-US" sz="1400" dirty="0">
                <a:solidFill>
                  <a:srgbClr val="FFFFFF"/>
                </a:solidFill>
              </a:rPr>
              <a:t>classes from one small model</a:t>
            </a:r>
            <a:endParaRPr lang="en-US" sz="1400" dirty="0"/>
          </a:p>
        </p:txBody>
      </p:sp>
      <p:sp>
        <p:nvSpPr>
          <p:cNvPr id="10" name="summary 3"/>
          <p:cNvSpPr/>
          <p:nvPr/>
        </p:nvSpPr>
        <p:spPr>
          <a:xfrm>
            <a:off x="7315200" y="3557016"/>
            <a:ext cx="4297680" cy="932688"/>
          </a:xfrm>
          <a:prstGeom prst="roundRect">
            <a:avLst>
              <a:gd name="adj" fmla="val 9804"/>
            </a:avLst>
          </a:prstGeom>
          <a:solidFill>
            <a:srgbClr val="1E2B42"/>
          </a:solidFill>
          <a:ln/>
        </p:spPr>
      </p:sp>
      <p:sp>
        <p:nvSpPr>
          <p:cNvPr id="11" name="Text 9"/>
          <p:cNvSpPr txBox="1"/>
          <p:nvPr/>
        </p:nvSpPr>
        <p:spPr>
          <a:xfrm>
            <a:off x="7543800" y="3666744"/>
            <a:ext cx="1737360" cy="713232"/>
          </a:xfrm>
          <a:prstGeom prst="rect">
            <a:avLst/>
          </a:prstGeom>
          <a:noFill/>
          <a:ln/>
        </p:spPr>
        <p:txBody>
          <a:bodyPr wrap="square" lIns="0" tIns="0" rIns="0" bIns="0" rtlCol="0" anchor="ctr"/>
          <a:lstStyle/>
          <a:p>
            <a:pPr indent="0" marL="0">
              <a:buNone/>
            </a:pPr>
            <a:r>
              <a:rPr lang="en-US" sz="3000" b="1" dirty="0">
                <a:solidFill>
                  <a:srgbClr val="F5A524"/>
                </a:solidFill>
              </a:rPr>
              <a:t>~53 fps</a:t>
            </a:r>
            <a:endParaRPr lang="en-US" sz="3000" dirty="0"/>
          </a:p>
        </p:txBody>
      </p:sp>
      <p:sp>
        <p:nvSpPr>
          <p:cNvPr id="12" name="Text 10"/>
          <p:cNvSpPr txBox="1"/>
          <p:nvPr/>
        </p:nvSpPr>
        <p:spPr>
          <a:xfrm>
            <a:off x="9281160" y="3666744"/>
            <a:ext cx="2194560" cy="713232"/>
          </a:xfrm>
          <a:prstGeom prst="rect">
            <a:avLst/>
          </a:prstGeom>
          <a:noFill/>
          <a:ln/>
        </p:spPr>
        <p:txBody>
          <a:bodyPr wrap="square" lIns="0" tIns="0" rIns="0" bIns="0" rtlCol="0" anchor="ctr"/>
          <a:lstStyle/>
          <a:p>
            <a:pPr indent="0" marL="0">
              <a:buNone/>
            </a:pPr>
            <a:r>
              <a:rPr lang="en-US" sz="1400" dirty="0">
                <a:solidFill>
                  <a:srgbClr val="FFFFFF"/>
                </a:solidFill>
              </a:rPr>
              <a:t>processing on the GPU</a:t>
            </a:r>
            <a:endParaRPr lang="en-US" sz="1400" dirty="0"/>
          </a:p>
        </p:txBody>
      </p:sp>
      <p:sp>
        <p:nvSpPr>
          <p:cNvPr id="13" name="summary 4"/>
          <p:cNvSpPr/>
          <p:nvPr/>
        </p:nvSpPr>
        <p:spPr>
          <a:xfrm>
            <a:off x="7315200" y="4672584"/>
            <a:ext cx="4297680" cy="932688"/>
          </a:xfrm>
          <a:prstGeom prst="roundRect">
            <a:avLst>
              <a:gd name="adj" fmla="val 9804"/>
            </a:avLst>
          </a:prstGeom>
          <a:solidFill>
            <a:srgbClr val="1E2B42"/>
          </a:solidFill>
          <a:ln/>
        </p:spPr>
      </p:sp>
      <p:sp>
        <p:nvSpPr>
          <p:cNvPr id="14" name="Text 12"/>
          <p:cNvSpPr txBox="1"/>
          <p:nvPr/>
        </p:nvSpPr>
        <p:spPr>
          <a:xfrm>
            <a:off x="7543800" y="4782312"/>
            <a:ext cx="1737360" cy="713232"/>
          </a:xfrm>
          <a:prstGeom prst="rect">
            <a:avLst/>
          </a:prstGeom>
          <a:noFill/>
          <a:ln/>
        </p:spPr>
        <p:txBody>
          <a:bodyPr wrap="square" lIns="0" tIns="0" rIns="0" bIns="0" rtlCol="0" anchor="ctr"/>
          <a:lstStyle/>
          <a:p>
            <a:pPr indent="0" marL="0">
              <a:buNone/>
            </a:pPr>
            <a:r>
              <a:rPr lang="en-US" sz="3000" b="1" dirty="0">
                <a:solidFill>
                  <a:srgbClr val="F5A524"/>
                </a:solidFill>
              </a:rPr>
              <a:t>7</a:t>
            </a:r>
            <a:endParaRPr lang="en-US" sz="3000" dirty="0"/>
          </a:p>
        </p:txBody>
      </p:sp>
      <p:sp>
        <p:nvSpPr>
          <p:cNvPr id="15" name="Text 13"/>
          <p:cNvSpPr txBox="1"/>
          <p:nvPr/>
        </p:nvSpPr>
        <p:spPr>
          <a:xfrm>
            <a:off x="9281160" y="4782312"/>
            <a:ext cx="2194560" cy="713232"/>
          </a:xfrm>
          <a:prstGeom prst="rect">
            <a:avLst/>
          </a:prstGeom>
          <a:noFill/>
          <a:ln/>
        </p:spPr>
        <p:txBody>
          <a:bodyPr wrap="square" lIns="0" tIns="0" rIns="0" bIns="0" rtlCol="0" anchor="ctr"/>
          <a:lstStyle/>
          <a:p>
            <a:pPr indent="0" marL="0">
              <a:buNone/>
            </a:pPr>
            <a:r>
              <a:rPr lang="en-US" sz="1400" dirty="0">
                <a:solidFill>
                  <a:srgbClr val="FFFFFF"/>
                </a:solidFill>
              </a:rPr>
              <a:t>clear tabs in one website</a:t>
            </a:r>
            <a:endParaRPr lang="en-US" sz="1400" dirty="0"/>
          </a:p>
        </p:txBody>
      </p:sp>
      <p:sp>
        <p:nvSpPr>
          <p:cNvPr id="16" name="Text 14"/>
          <p:cNvSpPr txBox="1"/>
          <p:nvPr/>
        </p:nvSpPr>
        <p:spPr>
          <a:xfrm>
            <a:off x="640080" y="5852160"/>
            <a:ext cx="5486400" cy="365760"/>
          </a:xfrm>
          <a:prstGeom prst="rect">
            <a:avLst/>
          </a:prstGeom>
          <a:noFill/>
          <a:ln/>
        </p:spPr>
        <p:txBody>
          <a:bodyPr wrap="square" lIns="0" tIns="0" rIns="0" bIns="0" rtlCol="0" anchor="t"/>
          <a:lstStyle/>
          <a:p>
            <a:pPr indent="0" marL="0">
              <a:buNone/>
            </a:pPr>
            <a:r>
              <a:rPr lang="en-US" sz="1600" b="1" dirty="0">
                <a:solidFill>
                  <a:srgbClr val="F5A524"/>
                </a:solidFill>
              </a:rPr>
              <a:t>Thank you · Questions</a:t>
            </a:r>
            <a:endParaRPr lang="en-US" sz="1600" dirty="0"/>
          </a:p>
        </p:txBody>
      </p:sp>
    </p:spTree>
  </p:cSld>
  <p:clrMapOvr>
    <a:masterClrMapping/>
  </p:clrMapOvr>
</p:sld>
</file>

<file path=ppt/theme/theme1.xml><?xml version="1.0" encoding="utf-8"?>
<a:theme xmlns:a="http://schemas.openxmlformats.org/drawingml/2006/main" name="VisionIQ Highway">
  <a:themeElements>
    <a:clrScheme name="VisionIQ Highway">
      <a:dk1>
        <a:srgbClr val="0F1623"/>
      </a:dk1>
      <a:lt1>
        <a:srgbClr val="FFFFFF"/>
      </a:lt1>
      <a:dk2>
        <a:srgbClr val="1E2B42"/>
      </a:dk2>
      <a:lt2>
        <a:srgbClr val="F3F5F8"/>
      </a:lt2>
      <a:accent1>
        <a:srgbClr val="F5A524"/>
      </a:accent1>
      <a:accent2>
        <a:srgbClr val="2A78D6"/>
      </a:accent2>
      <a:accent3>
        <a:srgbClr val="15803D"/>
      </a:accent3>
      <a:accent4>
        <a:srgbClr val="C2312B"/>
      </a:accent4>
      <a:accent5>
        <a:srgbClr val="5B3FC4"/>
      </a:accent5>
      <a:accent6>
        <a:srgbClr val="6B7280"/>
      </a:accent6>
      <a:hlink>
        <a:srgbClr val="2A78D6"/>
      </a:hlink>
      <a:folHlink>
        <a:srgbClr val="5B3FC4"/>
      </a:folHlink>
    </a:clrScheme>
    <a:fontScheme name="VisionIQ Highwa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VisionIQ · NH5 Highway AI</dc:title>
  <dc:subject>PptxGenJS Presentation</dc:subject>
  <dc:creator>harikrishna</dc:creator>
  <cp:lastModifiedBy>harikrishna</cp:lastModifiedBy>
  <cp:revision>1</cp:revision>
  <dcterms:created xsi:type="dcterms:W3CDTF">2026-10-05T08:28:16Z</dcterms:created>
  <dcterms:modified xsi:type="dcterms:W3CDTF">2026-10-05T08:28:16Z</dcterms:modified>
</cp:coreProperties>
</file>